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DFBC51-B179-41D0-933B-D2199B8A302C}" type="datetimeFigureOut">
              <a:rPr lang="en-IN" smtClean="0"/>
              <a:t>06-12-2025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7FFD62-B1E2-4A89-9FE4-7122CB630343}" type="slidenum">
              <a:rPr lang="en-IN" smtClean="0"/>
              <a:t>‹#›</a:t>
            </a:fld>
            <a:endParaRPr lang="en-IN"/>
          </a:p>
        </p:txBody>
      </p:sp>
    </p:spTree>
    <p:extLst>
      <p:ext uri="{BB962C8B-B14F-4D97-AF65-F5344CB8AC3E}">
        <p14:creationId xmlns:p14="http://schemas.microsoft.com/office/powerpoint/2010/main" val="104400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D7FFD62-B1E2-4A89-9FE4-7122CB630343}" type="slidenum">
              <a:rPr lang="en-IN" smtClean="0"/>
              <a:t>1</a:t>
            </a:fld>
            <a:endParaRPr lang="en-IN"/>
          </a:p>
        </p:txBody>
      </p:sp>
    </p:spTree>
    <p:extLst>
      <p:ext uri="{BB962C8B-B14F-4D97-AF65-F5344CB8AC3E}">
        <p14:creationId xmlns:p14="http://schemas.microsoft.com/office/powerpoint/2010/main" val="11165139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CA3F1-82B4-CCC9-F8B4-D9090022BE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375D011-D2FE-3C10-C909-C7E6869B6A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354ED5B-F6FD-AAF6-7BAA-10E847BF6A3B}"/>
              </a:ext>
            </a:extLst>
          </p:cNvPr>
          <p:cNvSpPr>
            <a:spLocks noGrp="1"/>
          </p:cNvSpPr>
          <p:nvPr>
            <p:ph type="dt" sz="half" idx="10"/>
          </p:nvPr>
        </p:nvSpPr>
        <p:spPr/>
        <p:txBody>
          <a:bodyPr/>
          <a:lstStyle/>
          <a:p>
            <a:fld id="{EF80085D-85DD-4FB6-9054-9DC497332799}" type="datetimeFigureOut">
              <a:rPr lang="en-IN" smtClean="0"/>
              <a:t>06-12-2025</a:t>
            </a:fld>
            <a:endParaRPr lang="en-IN"/>
          </a:p>
        </p:txBody>
      </p:sp>
      <p:sp>
        <p:nvSpPr>
          <p:cNvPr id="5" name="Footer Placeholder 4">
            <a:extLst>
              <a:ext uri="{FF2B5EF4-FFF2-40B4-BE49-F238E27FC236}">
                <a16:creationId xmlns:a16="http://schemas.microsoft.com/office/drawing/2014/main" id="{1651CB85-953D-C5CD-4B6F-3A31CD44C2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EC6921-ABF3-011D-6EAF-D3B38C0104B9}"/>
              </a:ext>
            </a:extLst>
          </p:cNvPr>
          <p:cNvSpPr>
            <a:spLocks noGrp="1"/>
          </p:cNvSpPr>
          <p:nvPr>
            <p:ph type="sldNum" sz="quarter" idx="12"/>
          </p:nvPr>
        </p:nvSpPr>
        <p:spPr/>
        <p:txBody>
          <a:bodyPr/>
          <a:lstStyle/>
          <a:p>
            <a:fld id="{D715350C-289D-42B7-B054-6EEC596721B0}" type="slidenum">
              <a:rPr lang="en-IN" smtClean="0"/>
              <a:t>‹#›</a:t>
            </a:fld>
            <a:endParaRPr lang="en-IN"/>
          </a:p>
        </p:txBody>
      </p:sp>
    </p:spTree>
    <p:extLst>
      <p:ext uri="{BB962C8B-B14F-4D97-AF65-F5344CB8AC3E}">
        <p14:creationId xmlns:p14="http://schemas.microsoft.com/office/powerpoint/2010/main" val="3053892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51363-9CD4-D883-17FA-51CCE6EB6CD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F01C3D-9609-1480-9EFE-2F844662BE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283E58-3B92-DBAB-E200-3E17567353FE}"/>
              </a:ext>
            </a:extLst>
          </p:cNvPr>
          <p:cNvSpPr>
            <a:spLocks noGrp="1"/>
          </p:cNvSpPr>
          <p:nvPr>
            <p:ph type="dt" sz="half" idx="10"/>
          </p:nvPr>
        </p:nvSpPr>
        <p:spPr/>
        <p:txBody>
          <a:bodyPr/>
          <a:lstStyle/>
          <a:p>
            <a:fld id="{EF80085D-85DD-4FB6-9054-9DC497332799}" type="datetimeFigureOut">
              <a:rPr lang="en-IN" smtClean="0"/>
              <a:t>06-12-2025</a:t>
            </a:fld>
            <a:endParaRPr lang="en-IN"/>
          </a:p>
        </p:txBody>
      </p:sp>
      <p:sp>
        <p:nvSpPr>
          <p:cNvPr id="5" name="Footer Placeholder 4">
            <a:extLst>
              <a:ext uri="{FF2B5EF4-FFF2-40B4-BE49-F238E27FC236}">
                <a16:creationId xmlns:a16="http://schemas.microsoft.com/office/drawing/2014/main" id="{578D3973-0D58-3326-E6AF-F0FD38CCEA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57A12A-B9CA-F67B-FAD5-CCDAA291417A}"/>
              </a:ext>
            </a:extLst>
          </p:cNvPr>
          <p:cNvSpPr>
            <a:spLocks noGrp="1"/>
          </p:cNvSpPr>
          <p:nvPr>
            <p:ph type="sldNum" sz="quarter" idx="12"/>
          </p:nvPr>
        </p:nvSpPr>
        <p:spPr/>
        <p:txBody>
          <a:bodyPr/>
          <a:lstStyle/>
          <a:p>
            <a:fld id="{D715350C-289D-42B7-B054-6EEC596721B0}" type="slidenum">
              <a:rPr lang="en-IN" smtClean="0"/>
              <a:t>‹#›</a:t>
            </a:fld>
            <a:endParaRPr lang="en-IN"/>
          </a:p>
        </p:txBody>
      </p:sp>
    </p:spTree>
    <p:extLst>
      <p:ext uri="{BB962C8B-B14F-4D97-AF65-F5344CB8AC3E}">
        <p14:creationId xmlns:p14="http://schemas.microsoft.com/office/powerpoint/2010/main" val="3388242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07921-F3E0-DADE-9C45-6E240947C3C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3B9CCED-1588-C44C-A98B-C75A7B2166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56E320-2FBE-73DF-08D0-3B862C6AF8F1}"/>
              </a:ext>
            </a:extLst>
          </p:cNvPr>
          <p:cNvSpPr>
            <a:spLocks noGrp="1"/>
          </p:cNvSpPr>
          <p:nvPr>
            <p:ph type="dt" sz="half" idx="10"/>
          </p:nvPr>
        </p:nvSpPr>
        <p:spPr/>
        <p:txBody>
          <a:bodyPr/>
          <a:lstStyle/>
          <a:p>
            <a:fld id="{EF80085D-85DD-4FB6-9054-9DC497332799}" type="datetimeFigureOut">
              <a:rPr lang="en-IN" smtClean="0"/>
              <a:t>06-12-2025</a:t>
            </a:fld>
            <a:endParaRPr lang="en-IN"/>
          </a:p>
        </p:txBody>
      </p:sp>
      <p:sp>
        <p:nvSpPr>
          <p:cNvPr id="5" name="Footer Placeholder 4">
            <a:extLst>
              <a:ext uri="{FF2B5EF4-FFF2-40B4-BE49-F238E27FC236}">
                <a16:creationId xmlns:a16="http://schemas.microsoft.com/office/drawing/2014/main" id="{4C5F05F1-6CD0-1629-96B5-EB1E359D41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375D07-666A-1BD7-3678-81DB7FE2F8AD}"/>
              </a:ext>
            </a:extLst>
          </p:cNvPr>
          <p:cNvSpPr>
            <a:spLocks noGrp="1"/>
          </p:cNvSpPr>
          <p:nvPr>
            <p:ph type="sldNum" sz="quarter" idx="12"/>
          </p:nvPr>
        </p:nvSpPr>
        <p:spPr/>
        <p:txBody>
          <a:bodyPr/>
          <a:lstStyle/>
          <a:p>
            <a:fld id="{D715350C-289D-42B7-B054-6EEC596721B0}" type="slidenum">
              <a:rPr lang="en-IN" smtClean="0"/>
              <a:t>‹#›</a:t>
            </a:fld>
            <a:endParaRPr lang="en-IN"/>
          </a:p>
        </p:txBody>
      </p:sp>
    </p:spTree>
    <p:extLst>
      <p:ext uri="{BB962C8B-B14F-4D97-AF65-F5344CB8AC3E}">
        <p14:creationId xmlns:p14="http://schemas.microsoft.com/office/powerpoint/2010/main" val="1655293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2FE9D-1C1C-6ACC-87E9-5392B97DA9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32E326-141C-41BC-B52B-47F5349E14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851632F-95E0-51BE-7C6F-BC7F4B1420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BA1DF3C-F042-7D6C-DF3A-5D204EBA80CB}"/>
              </a:ext>
            </a:extLst>
          </p:cNvPr>
          <p:cNvSpPr>
            <a:spLocks noGrp="1"/>
          </p:cNvSpPr>
          <p:nvPr>
            <p:ph type="dt" sz="half" idx="10"/>
          </p:nvPr>
        </p:nvSpPr>
        <p:spPr/>
        <p:txBody>
          <a:bodyPr/>
          <a:lstStyle/>
          <a:p>
            <a:fld id="{EF80085D-85DD-4FB6-9054-9DC497332799}" type="datetimeFigureOut">
              <a:rPr lang="en-IN" smtClean="0"/>
              <a:t>06-12-2025</a:t>
            </a:fld>
            <a:endParaRPr lang="en-IN"/>
          </a:p>
        </p:txBody>
      </p:sp>
      <p:sp>
        <p:nvSpPr>
          <p:cNvPr id="6" name="Footer Placeholder 5">
            <a:extLst>
              <a:ext uri="{FF2B5EF4-FFF2-40B4-BE49-F238E27FC236}">
                <a16:creationId xmlns:a16="http://schemas.microsoft.com/office/drawing/2014/main" id="{DE108883-4BF0-2F4F-EC2F-8FEAF84944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B5AA82-33A7-065B-F320-E45BA7B3886F}"/>
              </a:ext>
            </a:extLst>
          </p:cNvPr>
          <p:cNvSpPr>
            <a:spLocks noGrp="1"/>
          </p:cNvSpPr>
          <p:nvPr>
            <p:ph type="sldNum" sz="quarter" idx="12"/>
          </p:nvPr>
        </p:nvSpPr>
        <p:spPr/>
        <p:txBody>
          <a:bodyPr/>
          <a:lstStyle/>
          <a:p>
            <a:fld id="{D715350C-289D-42B7-B054-6EEC596721B0}" type="slidenum">
              <a:rPr lang="en-IN" smtClean="0"/>
              <a:t>‹#›</a:t>
            </a:fld>
            <a:endParaRPr lang="en-IN"/>
          </a:p>
        </p:txBody>
      </p:sp>
    </p:spTree>
    <p:extLst>
      <p:ext uri="{BB962C8B-B14F-4D97-AF65-F5344CB8AC3E}">
        <p14:creationId xmlns:p14="http://schemas.microsoft.com/office/powerpoint/2010/main" val="8974044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671A9-171B-09F2-0009-3051F9EE4F0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6D3FFB-B9AD-136F-7532-1DABC690D2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EA5D41-89E1-3A4F-E628-7B20D0892AD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88A1C59-A85F-DE86-FB2E-81310DB506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DBD405-1CD2-1A86-0556-9DEA369CBE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B2FEEAA-02F7-1243-FAA2-3F40D0E3B880}"/>
              </a:ext>
            </a:extLst>
          </p:cNvPr>
          <p:cNvSpPr>
            <a:spLocks noGrp="1"/>
          </p:cNvSpPr>
          <p:nvPr>
            <p:ph type="dt" sz="half" idx="10"/>
          </p:nvPr>
        </p:nvSpPr>
        <p:spPr/>
        <p:txBody>
          <a:bodyPr/>
          <a:lstStyle/>
          <a:p>
            <a:fld id="{EF80085D-85DD-4FB6-9054-9DC497332799}" type="datetimeFigureOut">
              <a:rPr lang="en-IN" smtClean="0"/>
              <a:t>06-12-2025</a:t>
            </a:fld>
            <a:endParaRPr lang="en-IN"/>
          </a:p>
        </p:txBody>
      </p:sp>
      <p:sp>
        <p:nvSpPr>
          <p:cNvPr id="8" name="Footer Placeholder 7">
            <a:extLst>
              <a:ext uri="{FF2B5EF4-FFF2-40B4-BE49-F238E27FC236}">
                <a16:creationId xmlns:a16="http://schemas.microsoft.com/office/drawing/2014/main" id="{0AFFEB71-5FAA-B530-3894-AFBC576BEE3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9D99E22-F901-55F4-21C0-77C9B6EAF8DF}"/>
              </a:ext>
            </a:extLst>
          </p:cNvPr>
          <p:cNvSpPr>
            <a:spLocks noGrp="1"/>
          </p:cNvSpPr>
          <p:nvPr>
            <p:ph type="sldNum" sz="quarter" idx="12"/>
          </p:nvPr>
        </p:nvSpPr>
        <p:spPr/>
        <p:txBody>
          <a:bodyPr/>
          <a:lstStyle/>
          <a:p>
            <a:fld id="{D715350C-289D-42B7-B054-6EEC596721B0}" type="slidenum">
              <a:rPr lang="en-IN" smtClean="0"/>
              <a:t>‹#›</a:t>
            </a:fld>
            <a:endParaRPr lang="en-IN"/>
          </a:p>
        </p:txBody>
      </p:sp>
    </p:spTree>
    <p:extLst>
      <p:ext uri="{BB962C8B-B14F-4D97-AF65-F5344CB8AC3E}">
        <p14:creationId xmlns:p14="http://schemas.microsoft.com/office/powerpoint/2010/main" val="996723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0B2F7-232F-3F73-6B1D-C9145A5B263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5EDE711-DCB4-3FB0-3A73-D41C30CC01B9}"/>
              </a:ext>
            </a:extLst>
          </p:cNvPr>
          <p:cNvSpPr>
            <a:spLocks noGrp="1"/>
          </p:cNvSpPr>
          <p:nvPr>
            <p:ph type="dt" sz="half" idx="10"/>
          </p:nvPr>
        </p:nvSpPr>
        <p:spPr/>
        <p:txBody>
          <a:bodyPr/>
          <a:lstStyle/>
          <a:p>
            <a:fld id="{EF80085D-85DD-4FB6-9054-9DC497332799}" type="datetimeFigureOut">
              <a:rPr lang="en-IN" smtClean="0"/>
              <a:t>06-12-2025</a:t>
            </a:fld>
            <a:endParaRPr lang="en-IN"/>
          </a:p>
        </p:txBody>
      </p:sp>
      <p:sp>
        <p:nvSpPr>
          <p:cNvPr id="4" name="Footer Placeholder 3">
            <a:extLst>
              <a:ext uri="{FF2B5EF4-FFF2-40B4-BE49-F238E27FC236}">
                <a16:creationId xmlns:a16="http://schemas.microsoft.com/office/drawing/2014/main" id="{6C76E138-FFE2-7972-A4E1-B1FA32F6723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415D142-4663-699A-B070-21EC137933D4}"/>
              </a:ext>
            </a:extLst>
          </p:cNvPr>
          <p:cNvSpPr>
            <a:spLocks noGrp="1"/>
          </p:cNvSpPr>
          <p:nvPr>
            <p:ph type="sldNum" sz="quarter" idx="12"/>
          </p:nvPr>
        </p:nvSpPr>
        <p:spPr/>
        <p:txBody>
          <a:bodyPr/>
          <a:lstStyle/>
          <a:p>
            <a:fld id="{D715350C-289D-42B7-B054-6EEC596721B0}" type="slidenum">
              <a:rPr lang="en-IN" smtClean="0"/>
              <a:t>‹#›</a:t>
            </a:fld>
            <a:endParaRPr lang="en-IN"/>
          </a:p>
        </p:txBody>
      </p:sp>
    </p:spTree>
    <p:extLst>
      <p:ext uri="{BB962C8B-B14F-4D97-AF65-F5344CB8AC3E}">
        <p14:creationId xmlns:p14="http://schemas.microsoft.com/office/powerpoint/2010/main" val="284387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6F48FD-3FAF-9E1F-EDE8-7D3D5B005E20}"/>
              </a:ext>
            </a:extLst>
          </p:cNvPr>
          <p:cNvSpPr>
            <a:spLocks noGrp="1"/>
          </p:cNvSpPr>
          <p:nvPr>
            <p:ph type="dt" sz="half" idx="10"/>
          </p:nvPr>
        </p:nvSpPr>
        <p:spPr/>
        <p:txBody>
          <a:bodyPr/>
          <a:lstStyle/>
          <a:p>
            <a:fld id="{EF80085D-85DD-4FB6-9054-9DC497332799}" type="datetimeFigureOut">
              <a:rPr lang="en-IN" smtClean="0"/>
              <a:t>06-12-2025</a:t>
            </a:fld>
            <a:endParaRPr lang="en-IN"/>
          </a:p>
        </p:txBody>
      </p:sp>
      <p:sp>
        <p:nvSpPr>
          <p:cNvPr id="3" name="Footer Placeholder 2">
            <a:extLst>
              <a:ext uri="{FF2B5EF4-FFF2-40B4-BE49-F238E27FC236}">
                <a16:creationId xmlns:a16="http://schemas.microsoft.com/office/drawing/2014/main" id="{9A08D3B4-344E-B04C-04AC-80EDADC9A16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1EFDCCB-226A-A27A-8997-C8BC55148848}"/>
              </a:ext>
            </a:extLst>
          </p:cNvPr>
          <p:cNvSpPr>
            <a:spLocks noGrp="1"/>
          </p:cNvSpPr>
          <p:nvPr>
            <p:ph type="sldNum" sz="quarter" idx="12"/>
          </p:nvPr>
        </p:nvSpPr>
        <p:spPr/>
        <p:txBody>
          <a:bodyPr/>
          <a:lstStyle/>
          <a:p>
            <a:fld id="{D715350C-289D-42B7-B054-6EEC596721B0}" type="slidenum">
              <a:rPr lang="en-IN" smtClean="0"/>
              <a:t>‹#›</a:t>
            </a:fld>
            <a:endParaRPr lang="en-IN"/>
          </a:p>
        </p:txBody>
      </p:sp>
    </p:spTree>
    <p:extLst>
      <p:ext uri="{BB962C8B-B14F-4D97-AF65-F5344CB8AC3E}">
        <p14:creationId xmlns:p14="http://schemas.microsoft.com/office/powerpoint/2010/main" val="13849839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98F43-E82C-2908-F325-EEB0CD7ADF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115D60E-711F-C4F2-9702-1D97B8D90D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538FB0B-258F-125A-8C4A-832250CA68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6D185E-9293-071A-A572-066AA3889A04}"/>
              </a:ext>
            </a:extLst>
          </p:cNvPr>
          <p:cNvSpPr>
            <a:spLocks noGrp="1"/>
          </p:cNvSpPr>
          <p:nvPr>
            <p:ph type="dt" sz="half" idx="10"/>
          </p:nvPr>
        </p:nvSpPr>
        <p:spPr/>
        <p:txBody>
          <a:bodyPr/>
          <a:lstStyle/>
          <a:p>
            <a:fld id="{EF80085D-85DD-4FB6-9054-9DC497332799}" type="datetimeFigureOut">
              <a:rPr lang="en-IN" smtClean="0"/>
              <a:t>06-12-2025</a:t>
            </a:fld>
            <a:endParaRPr lang="en-IN"/>
          </a:p>
        </p:txBody>
      </p:sp>
      <p:sp>
        <p:nvSpPr>
          <p:cNvPr id="6" name="Footer Placeholder 5">
            <a:extLst>
              <a:ext uri="{FF2B5EF4-FFF2-40B4-BE49-F238E27FC236}">
                <a16:creationId xmlns:a16="http://schemas.microsoft.com/office/drawing/2014/main" id="{F8FE818D-96A9-ED26-06B7-1AC3AB2AE3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FC2059A-3F22-0F41-FF15-6D4A63027F7C}"/>
              </a:ext>
            </a:extLst>
          </p:cNvPr>
          <p:cNvSpPr>
            <a:spLocks noGrp="1"/>
          </p:cNvSpPr>
          <p:nvPr>
            <p:ph type="sldNum" sz="quarter" idx="12"/>
          </p:nvPr>
        </p:nvSpPr>
        <p:spPr/>
        <p:txBody>
          <a:bodyPr/>
          <a:lstStyle/>
          <a:p>
            <a:fld id="{D715350C-289D-42B7-B054-6EEC596721B0}" type="slidenum">
              <a:rPr lang="en-IN" smtClean="0"/>
              <a:t>‹#›</a:t>
            </a:fld>
            <a:endParaRPr lang="en-IN"/>
          </a:p>
        </p:txBody>
      </p:sp>
    </p:spTree>
    <p:extLst>
      <p:ext uri="{BB962C8B-B14F-4D97-AF65-F5344CB8AC3E}">
        <p14:creationId xmlns:p14="http://schemas.microsoft.com/office/powerpoint/2010/main" val="655886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0650C-251A-4BF9-2795-421704616A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562130D-183F-236F-5D77-F86A6CB044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D738663-4609-72DD-4272-D08A5FBE6B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70CF50-6EA6-910A-5F77-50BF7550CC8E}"/>
              </a:ext>
            </a:extLst>
          </p:cNvPr>
          <p:cNvSpPr>
            <a:spLocks noGrp="1"/>
          </p:cNvSpPr>
          <p:nvPr>
            <p:ph type="dt" sz="half" idx="10"/>
          </p:nvPr>
        </p:nvSpPr>
        <p:spPr/>
        <p:txBody>
          <a:bodyPr/>
          <a:lstStyle/>
          <a:p>
            <a:fld id="{EF80085D-85DD-4FB6-9054-9DC497332799}" type="datetimeFigureOut">
              <a:rPr lang="en-IN" smtClean="0"/>
              <a:t>06-12-2025</a:t>
            </a:fld>
            <a:endParaRPr lang="en-IN"/>
          </a:p>
        </p:txBody>
      </p:sp>
      <p:sp>
        <p:nvSpPr>
          <p:cNvPr id="6" name="Footer Placeholder 5">
            <a:extLst>
              <a:ext uri="{FF2B5EF4-FFF2-40B4-BE49-F238E27FC236}">
                <a16:creationId xmlns:a16="http://schemas.microsoft.com/office/drawing/2014/main" id="{ACD13821-E7FB-0086-4ECE-1687D25B80B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9AAD13-6201-B979-6014-48DF0D71ABA7}"/>
              </a:ext>
            </a:extLst>
          </p:cNvPr>
          <p:cNvSpPr>
            <a:spLocks noGrp="1"/>
          </p:cNvSpPr>
          <p:nvPr>
            <p:ph type="sldNum" sz="quarter" idx="12"/>
          </p:nvPr>
        </p:nvSpPr>
        <p:spPr/>
        <p:txBody>
          <a:bodyPr/>
          <a:lstStyle/>
          <a:p>
            <a:fld id="{D715350C-289D-42B7-B054-6EEC596721B0}" type="slidenum">
              <a:rPr lang="en-IN" smtClean="0"/>
              <a:t>‹#›</a:t>
            </a:fld>
            <a:endParaRPr lang="en-IN"/>
          </a:p>
        </p:txBody>
      </p:sp>
    </p:spTree>
    <p:extLst>
      <p:ext uri="{BB962C8B-B14F-4D97-AF65-F5344CB8AC3E}">
        <p14:creationId xmlns:p14="http://schemas.microsoft.com/office/powerpoint/2010/main" val="225469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5ECF6-961C-F6CB-2FD8-13DCFCF3866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70C71DF-FE24-42B7-098F-E05FC44BF3A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45BBA0-670B-D179-C714-EC9B09DD05BD}"/>
              </a:ext>
            </a:extLst>
          </p:cNvPr>
          <p:cNvSpPr>
            <a:spLocks noGrp="1"/>
          </p:cNvSpPr>
          <p:nvPr>
            <p:ph type="dt" sz="half" idx="10"/>
          </p:nvPr>
        </p:nvSpPr>
        <p:spPr/>
        <p:txBody>
          <a:bodyPr/>
          <a:lstStyle/>
          <a:p>
            <a:fld id="{EF80085D-85DD-4FB6-9054-9DC497332799}" type="datetimeFigureOut">
              <a:rPr lang="en-IN" smtClean="0"/>
              <a:t>06-12-2025</a:t>
            </a:fld>
            <a:endParaRPr lang="en-IN"/>
          </a:p>
        </p:txBody>
      </p:sp>
      <p:sp>
        <p:nvSpPr>
          <p:cNvPr id="5" name="Footer Placeholder 4">
            <a:extLst>
              <a:ext uri="{FF2B5EF4-FFF2-40B4-BE49-F238E27FC236}">
                <a16:creationId xmlns:a16="http://schemas.microsoft.com/office/drawing/2014/main" id="{7BE144EF-7B9F-AB3E-3672-C6E5B10E7B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A6E99D-733A-30B6-642E-F012C1AC319F}"/>
              </a:ext>
            </a:extLst>
          </p:cNvPr>
          <p:cNvSpPr>
            <a:spLocks noGrp="1"/>
          </p:cNvSpPr>
          <p:nvPr>
            <p:ph type="sldNum" sz="quarter" idx="12"/>
          </p:nvPr>
        </p:nvSpPr>
        <p:spPr/>
        <p:txBody>
          <a:bodyPr/>
          <a:lstStyle/>
          <a:p>
            <a:fld id="{D715350C-289D-42B7-B054-6EEC596721B0}" type="slidenum">
              <a:rPr lang="en-IN" smtClean="0"/>
              <a:t>‹#›</a:t>
            </a:fld>
            <a:endParaRPr lang="en-IN"/>
          </a:p>
        </p:txBody>
      </p:sp>
    </p:spTree>
    <p:extLst>
      <p:ext uri="{BB962C8B-B14F-4D97-AF65-F5344CB8AC3E}">
        <p14:creationId xmlns:p14="http://schemas.microsoft.com/office/powerpoint/2010/main" val="1588364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5F505A-58B4-BA7E-E062-B53DDD31A51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2AC001D-6ECB-1091-CDE4-8DC65D0D89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86BE30-ABA7-2280-A412-1629372DD556}"/>
              </a:ext>
            </a:extLst>
          </p:cNvPr>
          <p:cNvSpPr>
            <a:spLocks noGrp="1"/>
          </p:cNvSpPr>
          <p:nvPr>
            <p:ph type="dt" sz="half" idx="10"/>
          </p:nvPr>
        </p:nvSpPr>
        <p:spPr/>
        <p:txBody>
          <a:bodyPr/>
          <a:lstStyle/>
          <a:p>
            <a:fld id="{EF80085D-85DD-4FB6-9054-9DC497332799}" type="datetimeFigureOut">
              <a:rPr lang="en-IN" smtClean="0"/>
              <a:t>06-12-2025</a:t>
            </a:fld>
            <a:endParaRPr lang="en-IN"/>
          </a:p>
        </p:txBody>
      </p:sp>
      <p:sp>
        <p:nvSpPr>
          <p:cNvPr id="5" name="Footer Placeholder 4">
            <a:extLst>
              <a:ext uri="{FF2B5EF4-FFF2-40B4-BE49-F238E27FC236}">
                <a16:creationId xmlns:a16="http://schemas.microsoft.com/office/drawing/2014/main" id="{DD021571-8162-264F-37FA-500A277F27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7B0CAE-8BB6-1379-6AEE-8361021655E6}"/>
              </a:ext>
            </a:extLst>
          </p:cNvPr>
          <p:cNvSpPr>
            <a:spLocks noGrp="1"/>
          </p:cNvSpPr>
          <p:nvPr>
            <p:ph type="sldNum" sz="quarter" idx="12"/>
          </p:nvPr>
        </p:nvSpPr>
        <p:spPr/>
        <p:txBody>
          <a:bodyPr/>
          <a:lstStyle/>
          <a:p>
            <a:fld id="{D715350C-289D-42B7-B054-6EEC596721B0}" type="slidenum">
              <a:rPr lang="en-IN" smtClean="0"/>
              <a:t>‹#›</a:t>
            </a:fld>
            <a:endParaRPr lang="en-IN"/>
          </a:p>
        </p:txBody>
      </p:sp>
    </p:spTree>
    <p:extLst>
      <p:ext uri="{BB962C8B-B14F-4D97-AF65-F5344CB8AC3E}">
        <p14:creationId xmlns:p14="http://schemas.microsoft.com/office/powerpoint/2010/main" val="1916481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FE196A-948C-272D-9568-4C61B54C35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B4B2004-0E6F-435E-27CE-B63C9C5B5D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6A7582-B91F-B78C-C25E-E020B1EFE0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80085D-85DD-4FB6-9054-9DC497332799}" type="datetimeFigureOut">
              <a:rPr lang="en-IN" smtClean="0"/>
              <a:t>06-12-2025</a:t>
            </a:fld>
            <a:endParaRPr lang="en-IN"/>
          </a:p>
        </p:txBody>
      </p:sp>
      <p:sp>
        <p:nvSpPr>
          <p:cNvPr id="5" name="Footer Placeholder 4">
            <a:extLst>
              <a:ext uri="{FF2B5EF4-FFF2-40B4-BE49-F238E27FC236}">
                <a16:creationId xmlns:a16="http://schemas.microsoft.com/office/drawing/2014/main" id="{53AF6E24-E925-B65A-F961-03674DDC5E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3C59004-5697-95BC-6254-AFA2B7C478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15350C-289D-42B7-B054-6EEC596721B0}" type="slidenum">
              <a:rPr lang="en-IN" smtClean="0"/>
              <a:t>‹#›</a:t>
            </a:fld>
            <a:endParaRPr lang="en-IN"/>
          </a:p>
        </p:txBody>
      </p:sp>
    </p:spTree>
    <p:extLst>
      <p:ext uri="{BB962C8B-B14F-4D97-AF65-F5344CB8AC3E}">
        <p14:creationId xmlns:p14="http://schemas.microsoft.com/office/powerpoint/2010/main" val="13672010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3929F-B939-1F54-BE9D-5FBFA4A3EC00}"/>
              </a:ext>
            </a:extLst>
          </p:cNvPr>
          <p:cNvSpPr>
            <a:spLocks noGrp="1"/>
          </p:cNvSpPr>
          <p:nvPr>
            <p:ph type="ctrTitle"/>
          </p:nvPr>
        </p:nvSpPr>
        <p:spPr>
          <a:xfrm>
            <a:off x="555522" y="406400"/>
            <a:ext cx="11080955" cy="2387600"/>
          </a:xfrm>
        </p:spPr>
        <p:txBody>
          <a:bodyPr>
            <a:normAutofit fontScale="90000"/>
          </a:bodyPr>
          <a:lstStyle/>
          <a:p>
            <a:r>
              <a:rPr lang="en-US" b="1" dirty="0">
                <a:latin typeface="Times New Roman" panose="02020603050405020304" pitchFamily="18" charset="0"/>
                <a:cs typeface="Times New Roman" panose="02020603050405020304" pitchFamily="18" charset="0"/>
              </a:rPr>
              <a:t>Circuit Guard-PCB Defect Detection and Classification Application</a:t>
            </a:r>
            <a:endParaRPr lang="en-IN"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C150E0EF-77E5-829C-69DB-993E5552F5AD}"/>
              </a:ext>
            </a:extLst>
          </p:cNvPr>
          <p:cNvSpPr>
            <a:spLocks noGrp="1"/>
          </p:cNvSpPr>
          <p:nvPr>
            <p:ph type="subTitle" idx="1"/>
          </p:nvPr>
        </p:nvSpPr>
        <p:spPr/>
        <p:txBody>
          <a:bodyPr/>
          <a:lstStyle/>
          <a:p>
            <a:pPr algn="r"/>
            <a:r>
              <a:rPr lang="en-US" dirty="0">
                <a:latin typeface="Times New Roman" panose="02020603050405020304" pitchFamily="18" charset="0"/>
                <a:cs typeface="Times New Roman" panose="02020603050405020304" pitchFamily="18" charset="0"/>
              </a:rPr>
              <a:t>LAVANYA R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5231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282EB-95B6-C683-40EC-C47B78247561}"/>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541BE4A-8996-0808-E4AB-ED2B4B42649E}"/>
              </a:ext>
            </a:extLst>
          </p:cNvPr>
          <p:cNvSpPr>
            <a:spLocks noGrp="1"/>
          </p:cNvSpPr>
          <p:nvPr>
            <p:ph idx="1"/>
          </p:nvPr>
        </p:nvSpPr>
        <p:spPr>
          <a:xfrm>
            <a:off x="522338" y="1690687"/>
            <a:ext cx="10831462" cy="4375815"/>
          </a:xfrm>
        </p:spPr>
        <p:txBody>
          <a:bodyPr>
            <a:norm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Printed Circuit Boards (PCBs) are essential components in all electronic devices, and detecting defects in them is critical for quality and reliability. Manual inspection is slow and error-prone, so this project develops an AI-based automated PCB defect detection system using image processing and deep learning. By comparing template and test images, extracting defect regions, and classifying them using an Efficient Net model, the system accurately identifies six major PCB defects. A Stream lit web application provides an easy-to-use interface for real-time analysis, making the solution practical for automated industrial inspection.</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36004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0951B-412E-911B-791E-DD013D070114}"/>
              </a:ext>
            </a:extLst>
          </p:cNvPr>
          <p:cNvSpPr>
            <a:spLocks noGrp="1"/>
          </p:cNvSpPr>
          <p:nvPr>
            <p:ph type="title"/>
          </p:nvPr>
        </p:nvSpPr>
        <p:spPr>
          <a:xfrm>
            <a:off x="966019" y="0"/>
            <a:ext cx="10515600" cy="1325563"/>
          </a:xfrm>
        </p:spPr>
        <p:txBody>
          <a:bodyPr/>
          <a:lstStyle/>
          <a:p>
            <a:pPr algn="ctr"/>
            <a:r>
              <a:rPr lang="en-US" b="1" dirty="0">
                <a:latin typeface="Times New Roman" panose="02020603050405020304" pitchFamily="18" charset="0"/>
                <a:cs typeface="Times New Roman" panose="02020603050405020304" pitchFamily="18" charset="0"/>
              </a:rPr>
              <a:t>DATASET DEATILS</a:t>
            </a:r>
            <a:endParaRPr lang="en-IN"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55D8FF52-C325-907D-667A-E34D90B1973D}"/>
              </a:ext>
            </a:extLst>
          </p:cNvPr>
          <p:cNvSpPr>
            <a:spLocks noGrp="1" noChangeArrowheads="1"/>
          </p:cNvSpPr>
          <p:nvPr>
            <p:ph idx="1"/>
          </p:nvPr>
        </p:nvSpPr>
        <p:spPr bwMode="auto">
          <a:xfrm>
            <a:off x="521110" y="1082621"/>
            <a:ext cx="10704871" cy="5444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 used: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DeepPCB</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Dataset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containing aligned template and test images.</a:t>
            </a:r>
          </a:p>
          <a:p>
            <a:pPr eaLnBrk="0" fontAlgn="base" hangingPunct="0">
              <a:lnSpc>
                <a:spcPct val="150000"/>
              </a:lnSpc>
              <a:spcBef>
                <a:spcPct val="0"/>
              </a:spcBef>
              <a:spcAft>
                <a:spcPct val="0"/>
              </a:spcAft>
              <a:buFont typeface="Wingdings" panose="05000000000000000000" pitchFamily="2" charset="2"/>
              <a:buChar char="Ø"/>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Total Classes: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 Defect Categories</a:t>
            </a:r>
          </a:p>
          <a:p>
            <a:pPr marL="457200" lvl="1" indent="0" eaLnBrk="0" fontAlgn="base" hangingPunct="0">
              <a:lnSpc>
                <a:spcPct val="150000"/>
              </a:lnSpc>
              <a:spcBef>
                <a:spcPct val="0"/>
              </a:spcBef>
              <a:spcAft>
                <a:spcPct val="0"/>
              </a:spcAft>
              <a:buFontTx/>
              <a:buAutoNum type="arabicPeriod"/>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Missing Hole</a:t>
            </a:r>
          </a:p>
          <a:p>
            <a:pPr marL="457200" lvl="1" indent="0" eaLnBrk="0" fontAlgn="base" hangingPunct="0">
              <a:lnSpc>
                <a:spcPct val="150000"/>
              </a:lnSpc>
              <a:spcBef>
                <a:spcPct val="0"/>
              </a:spcBef>
              <a:spcAft>
                <a:spcPct val="0"/>
              </a:spcAft>
              <a:buFontTx/>
              <a:buAutoNum type="arabicPeriod" startAt="2"/>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Mouse Bite</a:t>
            </a:r>
          </a:p>
          <a:p>
            <a:pPr marL="457200" lvl="1" indent="0" eaLnBrk="0" fontAlgn="base" hangingPunct="0">
              <a:lnSpc>
                <a:spcPct val="150000"/>
              </a:lnSpc>
              <a:spcBef>
                <a:spcPct val="0"/>
              </a:spcBef>
              <a:spcAft>
                <a:spcPct val="0"/>
              </a:spcAft>
              <a:buFontTx/>
              <a:buAutoNum type="arabicPeriod" startAt="3"/>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 Circuit</a:t>
            </a:r>
          </a:p>
          <a:p>
            <a:pPr marL="457200" lvl="1" indent="0" eaLnBrk="0" fontAlgn="base" hangingPunct="0">
              <a:lnSpc>
                <a:spcPct val="150000"/>
              </a:lnSpc>
              <a:spcBef>
                <a:spcPct val="0"/>
              </a:spcBef>
              <a:spcAft>
                <a:spcPct val="0"/>
              </a:spcAft>
              <a:buFontTx/>
              <a:buAutoNum type="arabicPeriod" startAt="4"/>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Short</a:t>
            </a:r>
          </a:p>
          <a:p>
            <a:pPr marL="457200" lvl="1" indent="0" eaLnBrk="0" fontAlgn="base" hangingPunct="0">
              <a:lnSpc>
                <a:spcPct val="150000"/>
              </a:lnSpc>
              <a:spcBef>
                <a:spcPct val="0"/>
              </a:spcBef>
              <a:spcAft>
                <a:spcPct val="0"/>
              </a:spcAft>
              <a:buFontTx/>
              <a:buAutoNum type="arabicPeriod" startAt="5"/>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Spur</a:t>
            </a:r>
          </a:p>
          <a:p>
            <a:pPr marL="457200" lvl="1" indent="0" eaLnBrk="0" fontAlgn="base" hangingPunct="0">
              <a:lnSpc>
                <a:spcPct val="150000"/>
              </a:lnSpc>
              <a:spcBef>
                <a:spcPct val="0"/>
              </a:spcBef>
              <a:spcAft>
                <a:spcPct val="0"/>
              </a:spcAft>
              <a:buFontTx/>
              <a:buAutoNum type="arabicPeriod" startAt="6"/>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Spurious Copper</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 contains:</a:t>
            </a:r>
          </a:p>
          <a:p>
            <a:pPr marL="457200" lvl="1" indent="0" eaLnBrk="0" fontAlgn="base" hangingPunct="0">
              <a:lnSpc>
                <a:spcPct val="150000"/>
              </a:lnSpc>
              <a:spcBef>
                <a:spcPct val="0"/>
              </a:spcBef>
              <a:spcAft>
                <a:spcPct val="0"/>
              </a:spcAft>
              <a:buNone/>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1.Template images</a:t>
            </a:r>
          </a:p>
          <a:p>
            <a:pPr marL="457200" lvl="1" indent="0" eaLnBrk="0" fontAlgn="base" hangingPunct="0">
              <a:lnSpc>
                <a:spcPct val="150000"/>
              </a:lnSpc>
              <a:spcBef>
                <a:spcPct val="0"/>
              </a:spcBef>
              <a:spcAft>
                <a:spcPct val="0"/>
              </a:spcAft>
              <a:buNone/>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2.Rotated test images</a:t>
            </a:r>
          </a:p>
          <a:p>
            <a:pPr marL="457200" lvl="1" indent="0" eaLnBrk="0" fontAlgn="base" hangingPunct="0">
              <a:lnSpc>
                <a:spcPct val="150000"/>
              </a:lnSpc>
              <a:spcBef>
                <a:spcPct val="0"/>
              </a:spcBef>
              <a:spcAft>
                <a:spcPct val="0"/>
              </a:spcAft>
              <a:buNone/>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3.Annotation files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Images were preprocessed, aligned, and used to extract ROI samples.</a:t>
            </a:r>
          </a:p>
        </p:txBody>
      </p:sp>
    </p:spTree>
    <p:extLst>
      <p:ext uri="{BB962C8B-B14F-4D97-AF65-F5344CB8AC3E}">
        <p14:creationId xmlns:p14="http://schemas.microsoft.com/office/powerpoint/2010/main" val="2364939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8E7E2-D865-7802-BE53-16C9B83751F0}"/>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MODULE 01 &amp; 02 SUMMARY</a:t>
            </a:r>
          </a:p>
        </p:txBody>
      </p:sp>
      <p:sp>
        <p:nvSpPr>
          <p:cNvPr id="3" name="Content Placeholder 2">
            <a:extLst>
              <a:ext uri="{FF2B5EF4-FFF2-40B4-BE49-F238E27FC236}">
                <a16:creationId xmlns:a16="http://schemas.microsoft.com/office/drawing/2014/main" id="{A1B90E3B-F2E1-3E81-F573-CCABC217FB85}"/>
              </a:ext>
            </a:extLst>
          </p:cNvPr>
          <p:cNvSpPr>
            <a:spLocks noGrp="1"/>
          </p:cNvSpPr>
          <p:nvPr>
            <p:ph idx="1"/>
          </p:nvPr>
        </p:nvSpPr>
        <p:spPr>
          <a:xfrm>
            <a:off x="363793" y="1825625"/>
            <a:ext cx="11641393" cy="4351338"/>
          </a:xfrm>
        </p:spPr>
        <p:txBody>
          <a:bodyPr>
            <a:normAutofit fontScale="92500" lnSpcReduction="20000"/>
          </a:bodyPr>
          <a:lstStyle/>
          <a:p>
            <a:pPr marL="0" indent="0">
              <a:lnSpc>
                <a:spcPct val="150000"/>
              </a:lnSpc>
              <a:buNone/>
            </a:pPr>
            <a:r>
              <a:rPr lang="en-US" sz="1800" b="1" dirty="0">
                <a:latin typeface="Times New Roman" panose="02020603050405020304" pitchFamily="18" charset="0"/>
                <a:cs typeface="Times New Roman" panose="02020603050405020304" pitchFamily="18" charset="0"/>
              </a:rPr>
              <a:t>Module 01 – Image Preprocessing</a:t>
            </a:r>
          </a:p>
          <a:p>
            <a:pPr>
              <a:lnSpc>
                <a:spcPct val="150000"/>
              </a:lnSpc>
              <a:buFont typeface="Wingdings" panose="05000000000000000000" pitchFamily="2" charset="2"/>
              <a:buChar char="Ø"/>
            </a:pPr>
            <a:r>
              <a:rPr lang="en-US" sz="1800" dirty="0"/>
              <a:t>Performed template–test image alignment.</a:t>
            </a:r>
          </a:p>
          <a:p>
            <a:pPr>
              <a:lnSpc>
                <a:spcPct val="150000"/>
              </a:lnSpc>
              <a:buFont typeface="Wingdings" panose="05000000000000000000" pitchFamily="2" charset="2"/>
              <a:buChar char="Ø"/>
            </a:pPr>
            <a:r>
              <a:rPr lang="en-US" sz="1800" dirty="0"/>
              <a:t>Applied image subtraction, Otsu thresholding &amp; morphological filtering.</a:t>
            </a:r>
          </a:p>
          <a:p>
            <a:pPr>
              <a:lnSpc>
                <a:spcPct val="150000"/>
              </a:lnSpc>
              <a:buFont typeface="Wingdings" panose="05000000000000000000" pitchFamily="2" charset="2"/>
              <a:buChar char="Ø"/>
            </a:pPr>
            <a:r>
              <a:rPr lang="en-US" sz="1800" dirty="0"/>
              <a:t>Generated binary masks highlighting potential defect areas.</a:t>
            </a:r>
          </a:p>
          <a:p>
            <a:pPr marL="0" indent="0">
              <a:lnSpc>
                <a:spcPct val="150000"/>
              </a:lnSpc>
              <a:buNone/>
            </a:pPr>
            <a:endParaRPr lang="en-US" sz="1800" dirty="0"/>
          </a:p>
          <a:p>
            <a:pPr marL="0" indent="0">
              <a:lnSpc>
                <a:spcPct val="150000"/>
              </a:lnSpc>
              <a:buNone/>
            </a:pPr>
            <a:r>
              <a:rPr lang="en-US" sz="1800" b="1" dirty="0">
                <a:latin typeface="Times New Roman" panose="02020603050405020304" pitchFamily="18" charset="0"/>
                <a:cs typeface="Times New Roman" panose="02020603050405020304" pitchFamily="18" charset="0"/>
              </a:rPr>
              <a:t>Module 02 – ROI Extraction</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Used contour detection to extract Region of Interests (ROIs).</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Cropped defect patches for training dataset.</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Verified bounding boxes visually.</a:t>
            </a:r>
          </a:p>
          <a:p>
            <a:pPr marL="0" indent="0">
              <a:buNone/>
            </a:pPr>
            <a:endParaRPr lang="en-IN" dirty="0"/>
          </a:p>
        </p:txBody>
      </p:sp>
    </p:spTree>
    <p:extLst>
      <p:ext uri="{BB962C8B-B14F-4D97-AF65-F5344CB8AC3E}">
        <p14:creationId xmlns:p14="http://schemas.microsoft.com/office/powerpoint/2010/main" val="32418128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993E5-B228-D12D-7070-D203ABBDFFCB}"/>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MODULE 03 &amp; 04 SUMMARY</a:t>
            </a:r>
            <a:endParaRPr lang="en-IN" dirty="0"/>
          </a:p>
        </p:txBody>
      </p:sp>
      <p:sp>
        <p:nvSpPr>
          <p:cNvPr id="3" name="Content Placeholder 2">
            <a:extLst>
              <a:ext uri="{FF2B5EF4-FFF2-40B4-BE49-F238E27FC236}">
                <a16:creationId xmlns:a16="http://schemas.microsoft.com/office/drawing/2014/main" id="{BCA58D1E-8DC4-1BE3-21A9-9D3F7694CD23}"/>
              </a:ext>
            </a:extLst>
          </p:cNvPr>
          <p:cNvSpPr>
            <a:spLocks noGrp="1"/>
          </p:cNvSpPr>
          <p:nvPr>
            <p:ph idx="1"/>
          </p:nvPr>
        </p:nvSpPr>
        <p:spPr>
          <a:xfrm>
            <a:off x="550606" y="1825625"/>
            <a:ext cx="11110452" cy="4351338"/>
          </a:xfrm>
        </p:spPr>
        <p:txBody>
          <a:bodyPr>
            <a:normAutofit fontScale="92500" lnSpcReduction="10000"/>
          </a:bodyPr>
          <a:lstStyle/>
          <a:p>
            <a:pPr marL="0" indent="0">
              <a:lnSpc>
                <a:spcPct val="150000"/>
              </a:lnSpc>
              <a:buNone/>
            </a:pPr>
            <a:r>
              <a:rPr lang="en-IN" sz="1800" b="1" dirty="0">
                <a:latin typeface="Times New Roman" panose="02020603050405020304" pitchFamily="18" charset="0"/>
                <a:cs typeface="Times New Roman" panose="02020603050405020304" pitchFamily="18" charset="0"/>
              </a:rPr>
              <a:t>Module 03 – Model Training</a:t>
            </a:r>
          </a:p>
          <a:p>
            <a:pPr>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Trained EfficientNet-B0 classifier on extracted ROIs.</a:t>
            </a:r>
          </a:p>
          <a:p>
            <a:pPr>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CPU-optimized training pipeline developed.</a:t>
            </a:r>
          </a:p>
          <a:p>
            <a:pPr>
              <a:lnSpc>
                <a:spcPct val="15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Saved model checkpoints and training logs.</a:t>
            </a:r>
          </a:p>
          <a:p>
            <a:pPr marL="0" indent="0">
              <a:buNone/>
            </a:pPr>
            <a:endParaRPr lang="en-IN" sz="1800" dirty="0">
              <a:latin typeface="Times New Roman" panose="02020603050405020304" pitchFamily="18" charset="0"/>
              <a:cs typeface="Times New Roman" panose="02020603050405020304" pitchFamily="18" charset="0"/>
            </a:endParaRPr>
          </a:p>
          <a:p>
            <a:pPr marL="0" indent="0">
              <a:lnSpc>
                <a:spcPct val="150000"/>
              </a:lnSpc>
              <a:buNone/>
            </a:pPr>
            <a:r>
              <a:rPr lang="en-US" sz="1800" b="1" dirty="0">
                <a:latin typeface="Times New Roman" panose="02020603050405020304" pitchFamily="18" charset="0"/>
                <a:cs typeface="Times New Roman" panose="02020603050405020304" pitchFamily="18" charset="0"/>
              </a:rPr>
              <a:t>Module 04 – Evaluation Metrics</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Performed inference on validation images.</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Generated confusion matrix, precision, recall, and F1-scores.</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Saved annotated images and all evaluation outputs.</a:t>
            </a:r>
          </a:p>
          <a:p>
            <a:endParaRPr lang="en-IN" dirty="0"/>
          </a:p>
        </p:txBody>
      </p:sp>
    </p:spTree>
    <p:extLst>
      <p:ext uri="{BB962C8B-B14F-4D97-AF65-F5344CB8AC3E}">
        <p14:creationId xmlns:p14="http://schemas.microsoft.com/office/powerpoint/2010/main" val="2351196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0A650-19F0-5ED0-BFDC-D7D9D8AB440C}"/>
              </a:ext>
            </a:extLst>
          </p:cNvPr>
          <p:cNvSpPr>
            <a:spLocks noGrp="1"/>
          </p:cNvSpPr>
          <p:nvPr>
            <p:ph type="title"/>
          </p:nvPr>
        </p:nvSpPr>
        <p:spPr>
          <a:xfrm>
            <a:off x="946355" y="227474"/>
            <a:ext cx="10515600" cy="1325563"/>
          </a:xfrm>
        </p:spPr>
        <p:txBody>
          <a:bodyPr/>
          <a:lstStyle/>
          <a:p>
            <a:pPr algn="ctr"/>
            <a:r>
              <a:rPr lang="en-IN" b="1" dirty="0">
                <a:latin typeface="Times New Roman" panose="02020603050405020304" pitchFamily="18" charset="0"/>
                <a:cs typeface="Times New Roman" panose="02020603050405020304" pitchFamily="18" charset="0"/>
              </a:rPr>
              <a:t>MODULE 05 &amp; 06 SUMMARY</a:t>
            </a:r>
            <a:endParaRPr lang="en-IN" dirty="0"/>
          </a:p>
        </p:txBody>
      </p:sp>
      <p:sp>
        <p:nvSpPr>
          <p:cNvPr id="3" name="Content Placeholder 2">
            <a:extLst>
              <a:ext uri="{FF2B5EF4-FFF2-40B4-BE49-F238E27FC236}">
                <a16:creationId xmlns:a16="http://schemas.microsoft.com/office/drawing/2014/main" id="{61D8EA77-BF12-F99E-5CB9-257C1E09177F}"/>
              </a:ext>
            </a:extLst>
          </p:cNvPr>
          <p:cNvSpPr>
            <a:spLocks noGrp="1"/>
          </p:cNvSpPr>
          <p:nvPr>
            <p:ph idx="1"/>
          </p:nvPr>
        </p:nvSpPr>
        <p:spPr>
          <a:xfrm>
            <a:off x="285135" y="1825625"/>
            <a:ext cx="11068665" cy="4351338"/>
          </a:xfrm>
        </p:spPr>
        <p:txBody>
          <a:bodyPr>
            <a:normAutofit fontScale="85000" lnSpcReduction="20000"/>
          </a:bodyPr>
          <a:lstStyle/>
          <a:p>
            <a:pPr marL="0" indent="0">
              <a:lnSpc>
                <a:spcPct val="150000"/>
              </a:lnSpc>
              <a:buNone/>
            </a:pPr>
            <a:r>
              <a:rPr lang="en-US" sz="1800" b="1" dirty="0">
                <a:latin typeface="Times New Roman" panose="02020603050405020304" pitchFamily="18" charset="0"/>
                <a:cs typeface="Times New Roman" panose="02020603050405020304" pitchFamily="18" charset="0"/>
              </a:rPr>
              <a:t>Module 05 – </a:t>
            </a:r>
            <a:r>
              <a:rPr lang="en-US" sz="1800" b="1" dirty="0" err="1">
                <a:latin typeface="Times New Roman" panose="02020603050405020304" pitchFamily="18" charset="0"/>
                <a:cs typeface="Times New Roman" panose="02020603050405020304" pitchFamily="18" charset="0"/>
              </a:rPr>
              <a:t>Streamlit</a:t>
            </a:r>
            <a:r>
              <a:rPr lang="en-US" sz="1800" b="1" dirty="0">
                <a:latin typeface="Times New Roman" panose="02020603050405020304" pitchFamily="18" charset="0"/>
                <a:cs typeface="Times New Roman" panose="02020603050405020304" pitchFamily="18" charset="0"/>
              </a:rPr>
              <a:t> Web App</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Built an interactive web application.</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Users can upload template &amp; test images.</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app performs inference and displays defect locations with labels.</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Supports CSV export of predictions.</a:t>
            </a:r>
          </a:p>
          <a:p>
            <a:pPr marL="0" indent="0">
              <a:buNone/>
            </a:pPr>
            <a:endParaRPr lang="en-IN" dirty="0"/>
          </a:p>
          <a:p>
            <a:pPr marL="0" indent="0">
              <a:lnSpc>
                <a:spcPct val="160000"/>
              </a:lnSpc>
              <a:buNone/>
            </a:pPr>
            <a:r>
              <a:rPr lang="en-IN" sz="1800" b="1" dirty="0">
                <a:latin typeface="Times New Roman" panose="02020603050405020304" pitchFamily="18" charset="0"/>
                <a:cs typeface="Times New Roman" panose="02020603050405020304" pitchFamily="18" charset="0"/>
              </a:rPr>
              <a:t>Module 06 – Backend Pipeline Integration</a:t>
            </a:r>
          </a:p>
          <a:p>
            <a:pPr>
              <a:lnSpc>
                <a:spcPct val="16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Developed complete automation pipeline in module06_backend.py.</a:t>
            </a:r>
          </a:p>
          <a:p>
            <a:pPr>
              <a:lnSpc>
                <a:spcPct val="16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Pipeline performs preprocessing → ROI extraction → Classification → Annotation.</a:t>
            </a:r>
          </a:p>
          <a:p>
            <a:pPr>
              <a:lnSpc>
                <a:spcPct val="16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Supports single and batch inference.</a:t>
            </a:r>
          </a:p>
          <a:p>
            <a:pPr marL="0" indent="0">
              <a:buNone/>
            </a:pPr>
            <a:endParaRPr lang="en-IN" dirty="0"/>
          </a:p>
        </p:txBody>
      </p:sp>
    </p:spTree>
    <p:extLst>
      <p:ext uri="{BB962C8B-B14F-4D97-AF65-F5344CB8AC3E}">
        <p14:creationId xmlns:p14="http://schemas.microsoft.com/office/powerpoint/2010/main" val="1779915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5078C-A533-906E-7B2C-BA9D0F4E4B7E}"/>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MODULE 07 SUMMARY</a:t>
            </a:r>
            <a:endParaRPr lang="en-IN" dirty="0"/>
          </a:p>
        </p:txBody>
      </p:sp>
      <p:sp>
        <p:nvSpPr>
          <p:cNvPr id="3" name="Content Placeholder 2">
            <a:extLst>
              <a:ext uri="{FF2B5EF4-FFF2-40B4-BE49-F238E27FC236}">
                <a16:creationId xmlns:a16="http://schemas.microsoft.com/office/drawing/2014/main" id="{B38B9904-93A6-4D34-B7C1-030AFB81E8BD}"/>
              </a:ext>
            </a:extLst>
          </p:cNvPr>
          <p:cNvSpPr>
            <a:spLocks noGrp="1"/>
          </p:cNvSpPr>
          <p:nvPr>
            <p:ph idx="1"/>
          </p:nvPr>
        </p:nvSpPr>
        <p:spPr>
          <a:xfrm>
            <a:off x="481781" y="1825625"/>
            <a:ext cx="10872019" cy="4351338"/>
          </a:xfrm>
        </p:spPr>
        <p:txBody>
          <a:bodyPr/>
          <a:lstStyle/>
          <a:p>
            <a:pPr marL="0" indent="0">
              <a:lnSpc>
                <a:spcPct val="150000"/>
              </a:lnSpc>
              <a:buNone/>
            </a:pPr>
            <a:r>
              <a:rPr lang="en-US" sz="1800" b="1" dirty="0">
                <a:latin typeface="Times New Roman" panose="02020603050405020304" pitchFamily="18" charset="0"/>
                <a:cs typeface="Times New Roman" panose="02020603050405020304" pitchFamily="18" charset="0"/>
              </a:rPr>
              <a:t>Module 07 – Final Evaluation &amp; Reporting</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Performed large-scale batch evaluation.</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Exported:</a:t>
            </a:r>
          </a:p>
          <a:p>
            <a:pPr lvl="1">
              <a:lnSpc>
                <a:spcPct val="150000"/>
              </a:lnSpc>
            </a:pPr>
            <a:r>
              <a:rPr lang="en-US" sz="1800" dirty="0">
                <a:latin typeface="Times New Roman" panose="02020603050405020304" pitchFamily="18" charset="0"/>
                <a:cs typeface="Times New Roman" panose="02020603050405020304" pitchFamily="18" charset="0"/>
              </a:rPr>
              <a:t>Summary reports</a:t>
            </a:r>
          </a:p>
          <a:p>
            <a:pPr lvl="1">
              <a:lnSpc>
                <a:spcPct val="150000"/>
              </a:lnSpc>
            </a:pPr>
            <a:r>
              <a:rPr lang="en-US" sz="1800" dirty="0">
                <a:latin typeface="Times New Roman" panose="02020603050405020304" pitchFamily="18" charset="0"/>
                <a:cs typeface="Times New Roman" panose="02020603050405020304" pitchFamily="18" charset="0"/>
              </a:rPr>
              <a:t>Confusion matrix</a:t>
            </a:r>
          </a:p>
          <a:p>
            <a:pPr lvl="1">
              <a:lnSpc>
                <a:spcPct val="150000"/>
              </a:lnSpc>
            </a:pPr>
            <a:r>
              <a:rPr lang="en-US" sz="1800" dirty="0">
                <a:latin typeface="Times New Roman" panose="02020603050405020304" pitchFamily="18" charset="0"/>
                <a:cs typeface="Times New Roman" panose="02020603050405020304" pitchFamily="18" charset="0"/>
              </a:rPr>
              <a:t>Per-class performance metrics</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Created final model trace for deployment.</a:t>
            </a:r>
          </a:p>
          <a:p>
            <a:pPr marL="0" indent="0">
              <a:buNone/>
            </a:pPr>
            <a:endParaRPr lang="en-IN" dirty="0"/>
          </a:p>
        </p:txBody>
      </p:sp>
    </p:spTree>
    <p:extLst>
      <p:ext uri="{BB962C8B-B14F-4D97-AF65-F5344CB8AC3E}">
        <p14:creationId xmlns:p14="http://schemas.microsoft.com/office/powerpoint/2010/main" val="2512765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5965B-29C8-4CAA-28CC-E0B4784200DE}"/>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STREAMLIT APP DETAILS</a:t>
            </a:r>
          </a:p>
        </p:txBody>
      </p:sp>
      <p:sp>
        <p:nvSpPr>
          <p:cNvPr id="4" name="Rectangle 1">
            <a:extLst>
              <a:ext uri="{FF2B5EF4-FFF2-40B4-BE49-F238E27FC236}">
                <a16:creationId xmlns:a16="http://schemas.microsoft.com/office/drawing/2014/main" id="{8846017E-D89D-71BD-7CF8-4FF762C85B5F}"/>
              </a:ext>
            </a:extLst>
          </p:cNvPr>
          <p:cNvSpPr>
            <a:spLocks noGrp="1" noChangeArrowheads="1"/>
          </p:cNvSpPr>
          <p:nvPr>
            <p:ph idx="1"/>
          </p:nvPr>
        </p:nvSpPr>
        <p:spPr bwMode="auto">
          <a:xfrm>
            <a:off x="540774" y="1690688"/>
            <a:ext cx="9792929" cy="2951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Built using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Streamlit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easy deployment and clean UI.</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Features:</a:t>
            </a:r>
          </a:p>
          <a:p>
            <a:pPr marL="457200" lvl="1" indent="0" eaLnBrk="0" fontAlgn="base" hangingPunct="0">
              <a:lnSpc>
                <a:spcPct val="15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Upload template &amp; test images</a:t>
            </a:r>
          </a:p>
          <a:p>
            <a:pPr marL="457200" lvl="1" indent="0" eaLnBrk="0" fontAlgn="base" hangingPunct="0">
              <a:lnSpc>
                <a:spcPct val="15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 preprocessing and defect detection</a:t>
            </a:r>
          </a:p>
          <a:p>
            <a:pPr marL="457200" lvl="1" indent="0" eaLnBrk="0" fontAlgn="base" hangingPunct="0">
              <a:lnSpc>
                <a:spcPct val="15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Annotated images displayed live</a:t>
            </a:r>
          </a:p>
          <a:p>
            <a:pPr marL="457200" lvl="1" indent="0" eaLnBrk="0" fontAlgn="base" hangingPunct="0">
              <a:lnSpc>
                <a:spcPct val="15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Downloadable CSV logs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a user-friendly interface for non-technical users.</a:t>
            </a:r>
          </a:p>
        </p:txBody>
      </p:sp>
    </p:spTree>
    <p:extLst>
      <p:ext uri="{BB962C8B-B14F-4D97-AF65-F5344CB8AC3E}">
        <p14:creationId xmlns:p14="http://schemas.microsoft.com/office/powerpoint/2010/main" val="1545174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CAC11-74DD-7820-7D0B-B6411C341060}"/>
              </a:ext>
            </a:extLst>
          </p:cNvPr>
          <p:cNvSpPr>
            <a:spLocks noGrp="1"/>
          </p:cNvSpPr>
          <p:nvPr>
            <p:ph type="title"/>
          </p:nvPr>
        </p:nvSpPr>
        <p:spPr>
          <a:xfrm>
            <a:off x="907026" y="70157"/>
            <a:ext cx="10515600" cy="1325563"/>
          </a:xfrm>
        </p:spPr>
        <p:txBody>
          <a:bodyPr/>
          <a:lstStyle/>
          <a:p>
            <a:pPr algn="ctr"/>
            <a:r>
              <a:rPr lang="en-IN" b="1" dirty="0">
                <a:latin typeface="Times New Roman" panose="02020603050405020304" pitchFamily="18" charset="0"/>
                <a:cs typeface="Times New Roman" panose="02020603050405020304" pitchFamily="18" charset="0"/>
              </a:rPr>
              <a:t>BACKEND OVERVIEW</a:t>
            </a:r>
          </a:p>
        </p:txBody>
      </p:sp>
      <p:sp>
        <p:nvSpPr>
          <p:cNvPr id="4" name="Rectangle 1">
            <a:extLst>
              <a:ext uri="{FF2B5EF4-FFF2-40B4-BE49-F238E27FC236}">
                <a16:creationId xmlns:a16="http://schemas.microsoft.com/office/drawing/2014/main" id="{1FE00EAB-E6CD-7A20-CCD1-D3A2F25BD5E0}"/>
              </a:ext>
            </a:extLst>
          </p:cNvPr>
          <p:cNvSpPr>
            <a:spLocks noGrp="1" noChangeArrowheads="1"/>
          </p:cNvSpPr>
          <p:nvPr>
            <p:ph idx="1"/>
          </p:nvPr>
        </p:nvSpPr>
        <p:spPr bwMode="auto">
          <a:xfrm>
            <a:off x="838200" y="1323639"/>
            <a:ext cx="9446342"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 implemented in module06_backend.py.</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Workflow pipeline:</a:t>
            </a:r>
          </a:p>
          <a:p>
            <a:pPr marL="457200" lvl="1" indent="0" eaLnBrk="0" fontAlgn="base" hangingPunct="0">
              <a:lnSpc>
                <a:spcPct val="150000"/>
              </a:lnSpc>
              <a:spcBef>
                <a:spcPct val="0"/>
              </a:spcBef>
              <a:spcAft>
                <a:spcPct val="0"/>
              </a:spcAft>
              <a:buFontTx/>
              <a:buAutoNum type="arabicPeriod"/>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Load model checkpoint</a:t>
            </a:r>
          </a:p>
          <a:p>
            <a:pPr marL="457200" lvl="1" indent="0" eaLnBrk="0" fontAlgn="base" hangingPunct="0">
              <a:lnSpc>
                <a:spcPct val="150000"/>
              </a:lnSpc>
              <a:spcBef>
                <a:spcPct val="0"/>
              </a:spcBef>
              <a:spcAft>
                <a:spcPct val="0"/>
              </a:spcAft>
              <a:buFontTx/>
              <a:buAutoNum type="arabicPeriod" startAt="2"/>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Preprocess inputs (resize, subtract, threshold)</a:t>
            </a:r>
          </a:p>
          <a:p>
            <a:pPr marL="457200" lvl="1" indent="0" eaLnBrk="0" fontAlgn="base" hangingPunct="0">
              <a:lnSpc>
                <a:spcPct val="150000"/>
              </a:lnSpc>
              <a:spcBef>
                <a:spcPct val="0"/>
              </a:spcBef>
              <a:spcAft>
                <a:spcPct val="0"/>
              </a:spcAft>
              <a:buFontTx/>
              <a:buAutoNum type="arabicPeriod" startAt="3"/>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Extract defect ROIs using contours</a:t>
            </a:r>
          </a:p>
          <a:p>
            <a:pPr marL="457200" lvl="1" indent="0" eaLnBrk="0" fontAlgn="base" hangingPunct="0">
              <a:lnSpc>
                <a:spcPct val="150000"/>
              </a:lnSpc>
              <a:spcBef>
                <a:spcPct val="0"/>
              </a:spcBef>
              <a:spcAft>
                <a:spcPct val="0"/>
              </a:spcAft>
              <a:buFontTx/>
              <a:buAutoNum type="arabicPeriod" startAt="4"/>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 defect class using EfficientNet-B0</a:t>
            </a:r>
          </a:p>
          <a:p>
            <a:pPr marL="457200" lvl="1" indent="0" eaLnBrk="0" fontAlgn="base" hangingPunct="0">
              <a:lnSpc>
                <a:spcPct val="150000"/>
              </a:lnSpc>
              <a:spcBef>
                <a:spcPct val="0"/>
              </a:spcBef>
              <a:spcAft>
                <a:spcPct val="0"/>
              </a:spcAft>
              <a:buFontTx/>
              <a:buAutoNum type="arabicPeriod" startAt="5"/>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Draw bounding boxes &amp; labels</a:t>
            </a:r>
          </a:p>
          <a:p>
            <a:pPr marL="457200" lvl="1" indent="0" eaLnBrk="0" fontAlgn="base" hangingPunct="0">
              <a:lnSpc>
                <a:spcPct val="150000"/>
              </a:lnSpc>
              <a:spcBef>
                <a:spcPct val="0"/>
              </a:spcBef>
              <a:spcAft>
                <a:spcPct val="0"/>
              </a:spcAft>
              <a:buFontTx/>
              <a:buAutoNum type="arabicPeriod" startAt="6"/>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Save annotated image and CSV output</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Designed for:</a:t>
            </a:r>
          </a:p>
          <a:p>
            <a:pPr marL="457200" lvl="1" indent="0" eaLnBrk="0" fontAlgn="base" hangingPunct="0">
              <a:lnSpc>
                <a:spcPct val="15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Single image analysis</a:t>
            </a:r>
          </a:p>
          <a:p>
            <a:pPr marL="457200" lvl="1" indent="0" eaLnBrk="0" fontAlgn="base" hangingPunct="0">
              <a:lnSpc>
                <a:spcPct val="15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Folder-level batch processing</a:t>
            </a:r>
          </a:p>
          <a:p>
            <a:pPr marL="457200" lvl="1" indent="0" eaLnBrk="0" fontAlgn="base" hangingPunct="0">
              <a:lnSpc>
                <a:spcPct val="15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High-speed inference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22765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EAD27-0417-4AE3-B944-E54B12F027C2}"/>
              </a:ext>
            </a:extLst>
          </p:cNvPr>
          <p:cNvSpPr>
            <a:spLocks noGrp="1"/>
          </p:cNvSpPr>
          <p:nvPr>
            <p:ph type="title"/>
          </p:nvPr>
        </p:nvSpPr>
        <p:spPr>
          <a:xfrm>
            <a:off x="838200" y="0"/>
            <a:ext cx="10515600" cy="1325563"/>
          </a:xfrm>
        </p:spPr>
        <p:txBody>
          <a:bodyPr/>
          <a:lstStyle/>
          <a:p>
            <a:pPr algn="ctr"/>
            <a:r>
              <a:rPr lang="en-US" b="1" dirty="0">
                <a:latin typeface="Times New Roman" panose="02020603050405020304" pitchFamily="18" charset="0"/>
                <a:cs typeface="Times New Roman" panose="02020603050405020304" pitchFamily="18" charset="0"/>
              </a:rPr>
              <a:t>RESULTS</a:t>
            </a:r>
            <a:endParaRPr lang="en-IN"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7346C5F9-8D21-BF13-76FE-205CD0A99BC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80" t="3462" r="1" b="6832"/>
          <a:stretch>
            <a:fillRect/>
          </a:stretch>
        </p:blipFill>
        <p:spPr>
          <a:xfrm>
            <a:off x="570271" y="1425677"/>
            <a:ext cx="10166556" cy="5181600"/>
          </a:xfrm>
        </p:spPr>
      </p:pic>
    </p:spTree>
    <p:extLst>
      <p:ext uri="{BB962C8B-B14F-4D97-AF65-F5344CB8AC3E}">
        <p14:creationId xmlns:p14="http://schemas.microsoft.com/office/powerpoint/2010/main" val="3890994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979CC-3EAB-B62D-B48E-86EF91E50976}"/>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RESULTS</a:t>
            </a:r>
            <a:endParaRPr lang="en-IN" dirty="0"/>
          </a:p>
        </p:txBody>
      </p:sp>
      <p:pic>
        <p:nvPicPr>
          <p:cNvPr id="5" name="Content Placeholder 4">
            <a:extLst>
              <a:ext uri="{FF2B5EF4-FFF2-40B4-BE49-F238E27FC236}">
                <a16:creationId xmlns:a16="http://schemas.microsoft.com/office/drawing/2014/main" id="{2480F7AB-7B2F-644D-013C-120E51356EF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574" t="299" b="6831"/>
          <a:stretch>
            <a:fillRect/>
          </a:stretch>
        </p:blipFill>
        <p:spPr>
          <a:xfrm>
            <a:off x="1120877" y="1474839"/>
            <a:ext cx="10078065" cy="4739148"/>
          </a:xfrm>
        </p:spPr>
      </p:pic>
    </p:spTree>
    <p:extLst>
      <p:ext uri="{BB962C8B-B14F-4D97-AF65-F5344CB8AC3E}">
        <p14:creationId xmlns:p14="http://schemas.microsoft.com/office/powerpoint/2010/main" val="1508852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7CD15-F905-7EDC-82AC-DD0BA4D2BB1F}"/>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CONCLUSION</a:t>
            </a:r>
            <a:endParaRPr lang="en-IN"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1D9EE2BB-80B2-2320-9D92-2ACA76A55EF9}"/>
              </a:ext>
            </a:extLst>
          </p:cNvPr>
          <p:cNvSpPr>
            <a:spLocks noGrp="1" noChangeArrowheads="1"/>
          </p:cNvSpPr>
          <p:nvPr>
            <p:ph idx="1"/>
          </p:nvPr>
        </p:nvSpPr>
        <p:spPr bwMode="auto">
          <a:xfrm>
            <a:off x="580103" y="1832597"/>
            <a:ext cx="8672051" cy="3366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buFont typeface="Wingdings" panose="05000000000000000000" pitchFamily="2" charset="2"/>
              <a:buChar char="Ø"/>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Successfully built an AI-powered defect detection system for PCBs.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Integrated image processing + deep learning + web interface.</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End-to-end usability via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Streamlit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can be improved with:</a:t>
            </a:r>
          </a:p>
          <a:p>
            <a:pPr marL="457200" lvl="1" indent="0" eaLnBrk="0" fontAlgn="base" hangingPunct="0">
              <a:lnSpc>
                <a:spcPct val="15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GPU training</a:t>
            </a:r>
          </a:p>
          <a:p>
            <a:pPr marL="457200" lvl="1" indent="0" eaLnBrk="0" fontAlgn="base" hangingPunct="0">
              <a:lnSpc>
                <a:spcPct val="15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Larger dataset</a:t>
            </a:r>
          </a:p>
          <a:p>
            <a:pPr marL="457200" lvl="1" indent="0" eaLnBrk="0" fontAlgn="base" hangingPunct="0">
              <a:lnSpc>
                <a:spcPct val="15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More advanced models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a strong foundation for real-time industrial PCB inspection</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5304496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550</Words>
  <Application>Microsoft Office PowerPoint</Application>
  <PresentationFormat>Widescreen</PresentationFormat>
  <Paragraphs>90</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Times New Roman</vt:lpstr>
      <vt:lpstr>Wingdings</vt:lpstr>
      <vt:lpstr>Office Theme</vt:lpstr>
      <vt:lpstr>Circuit Guard-PCB Defect Detection and Classification Application</vt:lpstr>
      <vt:lpstr>INTRODUCTION</vt:lpstr>
      <vt:lpstr>DATASET DEATILS</vt:lpstr>
      <vt:lpstr>MODULE 01 &amp; 02 SUMMARY</vt:lpstr>
      <vt:lpstr>MODULE 03 &amp; 04 SUMMARY</vt:lpstr>
      <vt:lpstr>MODULE 05 &amp; 06 SUMMARY</vt:lpstr>
      <vt:lpstr>MODULE 07 SUMMARY</vt:lpstr>
      <vt:lpstr>STREAMLIT APP DETAILS</vt:lpstr>
      <vt:lpstr>BACKEND OVERVIEW</vt:lpstr>
      <vt:lpstr>RESULTS</vt:lpstr>
      <vt:lpstr>RESULTS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Lavanya R</dc:creator>
  <cp:lastModifiedBy>Lavanya R</cp:lastModifiedBy>
  <cp:revision>1</cp:revision>
  <dcterms:created xsi:type="dcterms:W3CDTF">2025-12-06T13:18:47Z</dcterms:created>
  <dcterms:modified xsi:type="dcterms:W3CDTF">2025-12-06T13:18:47Z</dcterms:modified>
</cp:coreProperties>
</file>