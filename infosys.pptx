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50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63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21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938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90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38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45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739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367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43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3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6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A287A5-5004-4593-BFA0-C08472C4DEA2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A43545-6F29-4B0B-92F4-C0163E5E2D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354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5777" y="2730486"/>
            <a:ext cx="11341605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4950BC"/>
                </a:solidFill>
                <a:latin typeface="Lucida Fax" panose="02060602050505020204" pitchFamily="18" charset="0"/>
                <a:ea typeface="Inter Bold" pitchFamily="34" charset="-122"/>
                <a:cs typeface="Inter Bold" pitchFamily="34" charset="-120"/>
              </a:rPr>
              <a:t>PCB Defect Detection </a:t>
            </a:r>
            <a:r>
              <a:rPr lang="en-US" sz="5400" dirty="0" smtClean="0">
                <a:solidFill>
                  <a:srgbClr val="4950BC"/>
                </a:solidFill>
                <a:latin typeface="Lucida Fax" panose="02060602050505020204" pitchFamily="18" charset="0"/>
                <a:ea typeface="Inter Bold" pitchFamily="34" charset="-122"/>
                <a:cs typeface="Inter Bold" pitchFamily="34" charset="-120"/>
              </a:rPr>
              <a:t>System</a:t>
            </a:r>
            <a:endParaRPr lang="en-US" sz="5400" dirty="0">
              <a:solidFill>
                <a:srgbClr val="4950BC"/>
              </a:solidFill>
              <a:latin typeface="Lucida Fax" panose="0206060205050502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75777" y="4122930"/>
            <a:ext cx="113416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automated quality control solution combining computer vision and deep learning for high-speed, high-accuracy PCB inspection.</a:t>
            </a:r>
            <a:endParaRPr lang="en-US" sz="1750" dirty="0"/>
          </a:p>
        </p:txBody>
      </p:sp>
      <p:sp>
        <p:nvSpPr>
          <p:cNvPr id="4" name="Rectangle 3"/>
          <p:cNvSpPr/>
          <p:nvPr/>
        </p:nvSpPr>
        <p:spPr>
          <a:xfrm>
            <a:off x="3114589" y="1582219"/>
            <a:ext cx="5649303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400" dirty="0" smtClean="0">
                <a:solidFill>
                  <a:srgbClr val="000000"/>
                </a:solidFill>
                <a:latin typeface="Lucida Fax" panose="02060602050505020204" pitchFamily="18" charset="0"/>
                <a:ea typeface="Inter Bold" pitchFamily="34" charset="-122"/>
              </a:rPr>
              <a:t>AI CircuitGuard</a:t>
            </a:r>
            <a:endParaRPr lang="en-US" sz="5400" dirty="0">
              <a:latin typeface="Lucida Fax" panose="02060602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21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3297" y="482670"/>
            <a:ext cx="24143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67218" y="1007081"/>
            <a:ext cx="57383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Two-Phase </a:t>
            </a:r>
            <a:r>
              <a:rPr lang="en-US" sz="44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652349" y="2299928"/>
            <a:ext cx="111064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Reference-based Subtraction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(Template vs. Test) followed by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EfficientNet-B4 CNN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467218" y="3405509"/>
            <a:ext cx="11106473" cy="35957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67218" y="3781594"/>
            <a:ext cx="289721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 Flow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467218" y="4547047"/>
            <a:ext cx="1110647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 through the simple, linear pipeline: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Image Input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Masking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Contour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Annotated Output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467218" y="5528003"/>
            <a:ext cx="1110647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Demonstrate that the system is end-to-end.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330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75034" y="161377"/>
            <a:ext cx="6336554" cy="593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Defect Localization </a:t>
            </a:r>
            <a:r>
              <a:rPr lang="en-US" sz="410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(Modules 1 &amp; 2)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253433" y="1724295"/>
            <a:ext cx="3444399" cy="4866205"/>
          </a:xfrm>
          <a:prstGeom prst="roundRect">
            <a:avLst>
              <a:gd name="adj" fmla="val 206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3434" y="1245977"/>
            <a:ext cx="1854674" cy="29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Image Alignment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386257" y="1786206"/>
            <a:ext cx="3120838" cy="2815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crucial first step</a:t>
            </a:r>
            <a:r>
              <a:rPr lang="en-US" sz="160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 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 (Oriented FAST and Rotated BRIEF)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 matching combined with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RANSAC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calculate the Homography matrix. This ensures the template and test images are perfectly pixel-aligned before subtraction, compensating for camera shift.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6257" y="4932350"/>
            <a:ext cx="2715085" cy="1125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preprocessing.py: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cv2.ORB_create(500) and cv2.findHomography with cv2.RANSAC.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176013" y="1724296"/>
            <a:ext cx="3635575" cy="4866205"/>
          </a:xfrm>
          <a:prstGeom prst="roundRect">
            <a:avLst>
              <a:gd name="adj" fmla="val 206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9789" y="1245977"/>
            <a:ext cx="1854674" cy="29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Masking &amp; Filtering</a:t>
            </a:r>
            <a:endParaRPr lang="en-US" sz="2050" dirty="0"/>
          </a:p>
        </p:txBody>
      </p:sp>
      <p:sp>
        <p:nvSpPr>
          <p:cNvPr id="9" name="Text 7"/>
          <p:cNvSpPr/>
          <p:nvPr/>
        </p:nvSpPr>
        <p:spPr>
          <a:xfrm>
            <a:off x="4362995" y="1929012"/>
            <a:ext cx="3032598" cy="1822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Defect masks are created using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Absolute Difference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(cv2.absdiff) followed by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Otsu's Thresholding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(cv2.THRESH_OTSU). This adaptive thresholding is crucial for robustness against varying lighting.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77501" y="4734273"/>
            <a:ext cx="3032597" cy="185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preprocessing.py: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defect_mask = cv2.threshold(difference_map, 0, 255, cv2.THRESH_BINARY + cv2.THRESH_OTSU)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44098" y="1724295"/>
            <a:ext cx="3722914" cy="4866205"/>
          </a:xfrm>
          <a:prstGeom prst="roundRect">
            <a:avLst>
              <a:gd name="adj" fmla="val 206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49275" y="1245977"/>
            <a:ext cx="1854674" cy="296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 Extraction</a:t>
            </a:r>
            <a:endParaRPr lang="en-US" sz="2050" dirty="0"/>
          </a:p>
        </p:txBody>
      </p:sp>
      <p:sp>
        <p:nvSpPr>
          <p:cNvPr id="13" name="Text 11"/>
          <p:cNvSpPr/>
          <p:nvPr/>
        </p:nvSpPr>
        <p:spPr>
          <a:xfrm>
            <a:off x="8486755" y="1786206"/>
            <a:ext cx="3455104" cy="1709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morphological operations (Opening/Dilation) to clean the mask, then used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Contour Detection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(cv2.RETR_EXTERNAL) to find defect boundaries.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 filtering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(MIN_DEFECT_AREA = 100) was used to remove noise, meeting the "Mask quality, bounding box accuracy" goal.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486755" y="4898572"/>
            <a:ext cx="3256754" cy="152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roi.py: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cv2.findContours and filters contours where cv2.contourArea(cnt) &lt; min_area. The resulting ROIs are the labeled input for the CNN.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0220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5329" y="736878"/>
            <a:ext cx="8947581" cy="760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 Model Training </a:t>
            </a:r>
            <a:r>
              <a:rPr lang="en-US" sz="40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(Module 3)</a:t>
            </a:r>
            <a:endParaRPr lang="en-US" sz="4050" dirty="0"/>
          </a:p>
        </p:txBody>
      </p:sp>
      <p:sp>
        <p:nvSpPr>
          <p:cNvPr id="3" name="Text 1"/>
          <p:cNvSpPr/>
          <p:nvPr/>
        </p:nvSpPr>
        <p:spPr>
          <a:xfrm>
            <a:off x="572449" y="1841488"/>
            <a:ext cx="2662018" cy="45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Selection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39229" y="2440525"/>
            <a:ext cx="3434217" cy="233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selected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EfficientNet-B4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via the timm library. This model offers an optimal balance between high classification accuracy and fast inference speed, ideal for manufacturing environments.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9229" y="4648436"/>
            <a:ext cx="3434217" cy="1812471"/>
          </a:xfrm>
          <a:prstGeom prst="roundRect">
            <a:avLst>
              <a:gd name="adj" fmla="val 5639"/>
            </a:avLst>
          </a:prstGeom>
          <a:solidFill>
            <a:srgbClr val="C7C9E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31" y="4908058"/>
            <a:ext cx="304036" cy="2432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4467" y="4889994"/>
            <a:ext cx="2934545" cy="116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training.py: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timm.create_model('efficientnet_b4', pretrained=True).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304079" y="1841489"/>
            <a:ext cx="2662018" cy="45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Strategy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306974" y="2341351"/>
            <a:ext cx="3434217" cy="233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used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Learning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leveraging pre-trained ImageNet weights and only retraining the final classification layer (model.classifier). This allowed us to achieve high accuracy quickly with limited defect images.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948374" y="4669781"/>
            <a:ext cx="4307460" cy="1803277"/>
          </a:xfrm>
          <a:prstGeom prst="roundRect">
            <a:avLst>
              <a:gd name="adj" fmla="val 3429"/>
            </a:avLst>
          </a:prstGeom>
          <a:solidFill>
            <a:srgbClr val="C7C9E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476" y="4858293"/>
            <a:ext cx="304036" cy="2432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3353" y="4784771"/>
            <a:ext cx="3596184" cy="2335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training.py: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Replaced the classifier with nn.Linear(num_ftrs, num_classes). Trained for </a:t>
            </a:r>
            <a:r>
              <a:rPr lang="en-US" sz="16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epochs with </a:t>
            </a:r>
            <a:r>
              <a:rPr lang="en-US" sz="1600" i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5e-5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learning rate.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800828" y="1817900"/>
            <a:ext cx="2662018" cy="456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Flow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8676418" y="2401338"/>
            <a:ext cx="3551464" cy="116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was trained on </a:t>
            </a:r>
            <a:r>
              <a:rPr lang="en-US" sz="16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128 × 128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RGB images that were </a:t>
            </a:r>
            <a:r>
              <a:rPr lang="en-US" sz="16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normalized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using ImageNet means/stds.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497244" y="4657630"/>
            <a:ext cx="3551464" cy="1812471"/>
          </a:xfrm>
          <a:prstGeom prst="roundRect">
            <a:avLst>
              <a:gd name="adj" fmla="val 5639"/>
            </a:avLst>
          </a:prstGeom>
          <a:solidFill>
            <a:srgbClr val="C7C9E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226" y="4889994"/>
            <a:ext cx="304036" cy="2432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80065" y="4846178"/>
            <a:ext cx="2797515" cy="1167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training.py: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transforms.Normalize(NORM_MEAN, NORM_STD).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6976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2087" y="433727"/>
            <a:ext cx="7860689" cy="682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 &amp; </a:t>
            </a:r>
            <a:r>
              <a:rPr lang="en-US" sz="44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(Module 4)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232087" y="1596134"/>
            <a:ext cx="3757221" cy="4660975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9381" y="1853429"/>
            <a:ext cx="3046286" cy="409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 Metric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489381" y="2414808"/>
            <a:ext cx="3296483" cy="1747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successfully met the target, achieving </a:t>
            </a:r>
            <a:r>
              <a:rPr lang="en-US" sz="1750" i="1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97.5%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89381" y="3902957"/>
            <a:ext cx="3296483" cy="349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≥ 97\%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test accuracy.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162431" y="1585534"/>
            <a:ext cx="3757221" cy="4660975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68274" y="1788905"/>
            <a:ext cx="3145533" cy="409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Performance Metrics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4468274" y="2261077"/>
            <a:ext cx="3296483" cy="2795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Spur and Spurious Copper were harder to</a:t>
            </a: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distinguish.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468274" y="3902957"/>
            <a:ext cx="3296483" cy="69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Accuracy, Loss, Confusion Matrix.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058086" y="1572470"/>
            <a:ext cx="3757221" cy="4660975"/>
          </a:xfrm>
          <a:prstGeom prst="roundRect">
            <a:avLst>
              <a:gd name="adj" fmla="val 2270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3553" y="1800685"/>
            <a:ext cx="3046286" cy="409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Inference Logic</a:t>
            </a:r>
            <a:endParaRPr lang="en-US" sz="2650" dirty="0"/>
          </a:p>
        </p:txBody>
      </p:sp>
      <p:sp>
        <p:nvSpPr>
          <p:cNvPr id="13" name="Text 11"/>
          <p:cNvSpPr/>
          <p:nvPr/>
        </p:nvSpPr>
        <p:spPr>
          <a:xfrm>
            <a:off x="8288454" y="2259256"/>
            <a:ext cx="3296483" cy="139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uses torch.softmax to get probabilities, ensuring the confidence score is reliable.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357482" y="3902957"/>
            <a:ext cx="3296483" cy="1397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module4.py: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Uses torch.softmax(output, dim=1) and extracts the confidence with torch.max.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15145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95810" y="246673"/>
            <a:ext cx="6095229" cy="63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Pipeline </a:t>
            </a:r>
            <a:r>
              <a:rPr lang="en-US" sz="39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(Module 6)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540219" y="1156097"/>
            <a:ext cx="2624344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Master Function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540219" y="1838087"/>
            <a:ext cx="11177163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full_inference_pipeline in mod6.py is the single function responsible for coordinating all modules. It takes the raw test image and outputs the annotated result and the log data.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0219" y="2738250"/>
            <a:ext cx="11177163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mod6.py: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Contains the entire flow: align_and_subtract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extract_rois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predict_single_roi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draw_annotations.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237085" y="852964"/>
            <a:ext cx="45719" cy="240982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7" name="Shape 5"/>
          <p:cNvSpPr/>
          <p:nvPr/>
        </p:nvSpPr>
        <p:spPr>
          <a:xfrm>
            <a:off x="237087" y="3591092"/>
            <a:ext cx="11439556" cy="32861"/>
          </a:xfrm>
          <a:prstGeom prst="rect">
            <a:avLst/>
          </a:prstGeom>
          <a:solidFill>
            <a:srgbClr val="272525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37086" y="4053244"/>
            <a:ext cx="2624344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Annotation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237086" y="4634150"/>
            <a:ext cx="5506339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results (prediction + bounding box coordinates) are used by draw_annotations to visually label the defects on the image. We used cv2.rectangle and cv2.putText for this final visualization step.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37086" y="6109454"/>
            <a:ext cx="5506339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mod6.py: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draw_annotations function uses cv2.FONT_HERSHEY_SIMPLEX for text labeling.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99134" y="4054386"/>
            <a:ext cx="2624344" cy="378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Metric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6811751" y="4584455"/>
            <a:ext cx="5140763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integrated system meets the core speed requirement</a:t>
            </a:r>
            <a:r>
              <a:rPr lang="en-US" sz="1550" dirty="0" smtClean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70308" y="6109454"/>
            <a:ext cx="5506339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Metric: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5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seconds per image.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2431131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9846" y="241340"/>
            <a:ext cx="9915882" cy="695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UI &amp; Export </a:t>
            </a:r>
            <a:r>
              <a:rPr lang="en-US" sz="4350" b="1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(Modules 5 &amp; 7)</a:t>
            </a:r>
            <a:endParaRPr lang="en-US" sz="4350" dirty="0"/>
          </a:p>
        </p:txBody>
      </p:sp>
      <p:grpSp>
        <p:nvGrpSpPr>
          <p:cNvPr id="15" name="Group 14"/>
          <p:cNvGrpSpPr/>
          <p:nvPr/>
        </p:nvGrpSpPr>
        <p:grpSpPr>
          <a:xfrm>
            <a:off x="164716" y="1407728"/>
            <a:ext cx="11617982" cy="5175914"/>
            <a:chOff x="164715" y="1407727"/>
            <a:chExt cx="13073063" cy="5642968"/>
          </a:xfrm>
        </p:grpSpPr>
        <p:pic>
          <p:nvPicPr>
            <p:cNvPr id="3" name="Image 0" descr="preencoded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4715" y="1407727"/>
              <a:ext cx="4357688" cy="889992"/>
            </a:xfrm>
            <a:prstGeom prst="rect">
              <a:avLst/>
            </a:prstGeom>
          </p:spPr>
        </p:pic>
        <p:sp>
          <p:nvSpPr>
            <p:cNvPr id="4" name="Text 1"/>
            <p:cNvSpPr/>
            <p:nvPr/>
          </p:nvSpPr>
          <p:spPr>
            <a:xfrm>
              <a:off x="387124" y="2520128"/>
              <a:ext cx="2781181" cy="3476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1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User Interface</a:t>
              </a:r>
              <a:endParaRPr lang="en-US" sz="215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387124" y="3001260"/>
              <a:ext cx="3912870" cy="1779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The frontend uses </a:t>
              </a: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Streamlit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for rapid deployment and ease of use. It takes a single image upload and displays the annotated image and the detailed defect log.</a:t>
              </a:r>
              <a:endParaRPr lang="en-US" sz="175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269533" y="5626707"/>
              <a:ext cx="3912870" cy="7119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app.py: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Uses st.file_uploader, st.image, and st.dataframe.</a:t>
              </a:r>
              <a:endParaRPr lang="en-US" sz="1750" dirty="0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22402" y="1407727"/>
              <a:ext cx="4357688" cy="889992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4744811" y="2520128"/>
              <a:ext cx="2781181" cy="3476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1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Export Feature</a:t>
              </a:r>
              <a:endParaRPr lang="en-US" sz="21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4744811" y="3001260"/>
              <a:ext cx="3912870" cy="21359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This is a key deliverable. The system allows users to download two critical files for quality assurance documentation: 1) The </a:t>
              </a: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Annotated Output Image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(JPEG), and 2) The </a:t>
              </a: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Detailed Defect Log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(CSV).</a:t>
              </a:r>
              <a:endParaRPr lang="en-US" sz="175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4744810" y="5626707"/>
              <a:ext cx="3912870" cy="14239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app.py: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Uses st.download_button to export the image bytes and the Pandas DataFrame (df_log) converted to CSV string.</a:t>
              </a:r>
              <a:endParaRPr lang="en-US" sz="1750" dirty="0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880090" y="1407727"/>
              <a:ext cx="4357688" cy="889992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9102499" y="2520128"/>
              <a:ext cx="2781181" cy="34766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700"/>
                </a:lnSpc>
                <a:buNone/>
              </a:pPr>
              <a:r>
                <a:rPr lang="en-US" sz="2150" b="1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Final Evaluation</a:t>
              </a:r>
              <a:endParaRPr lang="en-US" sz="215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9102499" y="3001260"/>
              <a:ext cx="3912870" cy="17799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Conclude by confirming the successful delivery of a </a:t>
              </a: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Professional-quality outcome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with a fully functional UI and robust export features.</a:t>
              </a:r>
              <a:endParaRPr lang="en-US" sz="175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9102499" y="5626707"/>
              <a:ext cx="3912870" cy="7119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800"/>
                </a:lnSpc>
                <a:buNone/>
              </a:pPr>
              <a:r>
                <a:rPr lang="en-US" sz="1750" b="1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Evaluation:</a:t>
              </a:r>
              <a:r>
                <a:rPr lang="en-US" sz="175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Fully functional UI with successful export feature.</a:t>
              </a:r>
              <a:endParaRPr lang="en-US" sz="1750" dirty="0"/>
            </a:p>
          </p:txBody>
        </p:sp>
      </p:grpSp>
    </p:spTree>
    <p:extLst>
      <p:ext uri="{BB962C8B-B14F-4D97-AF65-F5344CB8AC3E}">
        <p14:creationId xmlns:p14="http://schemas.microsoft.com/office/powerpoint/2010/main" val="1226149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49583" y="2514309"/>
            <a:ext cx="7579319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sz="5400" dirty="0" smtClean="0">
                <a:solidFill>
                  <a:srgbClr val="4950BC"/>
                </a:solidFill>
                <a:latin typeface="Lucida Fax" panose="02060602050505020204" pitchFamily="18" charset="0"/>
                <a:ea typeface="Inter Bold" pitchFamily="34" charset="-122"/>
              </a:rPr>
              <a:t>Thank You Everyone!</a:t>
            </a:r>
            <a:endParaRPr lang="en-US" sz="5400" dirty="0">
              <a:solidFill>
                <a:srgbClr val="4950BC"/>
              </a:solidFill>
              <a:latin typeface="Lucida Fax" panose="020606020505050202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50913" y="4774184"/>
            <a:ext cx="2254143" cy="810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550"/>
              </a:lnSpc>
            </a:pPr>
            <a:r>
              <a:rPr lang="en-US" dirty="0" smtClean="0">
                <a:solidFill>
                  <a:srgbClr val="000000"/>
                </a:solidFill>
                <a:latin typeface="Lucida Fax" panose="02060602050505020204" pitchFamily="18" charset="0"/>
                <a:ea typeface="Inter Bold" pitchFamily="34" charset="-122"/>
              </a:rPr>
              <a:t>- Yashika Agarwal</a:t>
            </a:r>
            <a:endParaRPr lang="en-US" dirty="0">
              <a:latin typeface="Lucida Fax" panose="02060602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12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736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Inter</vt:lpstr>
      <vt:lpstr>Inter Bold</vt:lpstr>
      <vt:lpstr>Lucida Fax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5</cp:revision>
  <dcterms:created xsi:type="dcterms:W3CDTF">2025-12-05T12:35:56Z</dcterms:created>
  <dcterms:modified xsi:type="dcterms:W3CDTF">2025-12-05T13:00:34Z</dcterms:modified>
</cp:coreProperties>
</file>