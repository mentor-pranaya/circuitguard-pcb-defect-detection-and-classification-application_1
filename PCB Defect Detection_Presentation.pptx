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5FFE-1842-F642-E60F-9C53657C9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383457"/>
            <a:ext cx="8791575" cy="2005782"/>
          </a:xfrm>
        </p:spPr>
        <p:txBody>
          <a:bodyPr>
            <a:normAutofit/>
          </a:bodyPr>
          <a:lstStyle/>
          <a:p>
            <a:r>
              <a:rPr lang="en-IN" sz="3200" dirty="0" err="1"/>
              <a:t>CircuitGuard</a:t>
            </a:r>
            <a:r>
              <a:rPr lang="en-IN" sz="3200" dirty="0"/>
              <a:t> - </a:t>
            </a:r>
            <a:r>
              <a:rPr lang="en-US" sz="3200" dirty="0"/>
              <a:t>PCB Defect Detection and Classification Application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E00C1B-AAEB-844D-A8A3-206F4DE7F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3031767"/>
            <a:ext cx="8791575" cy="1655762"/>
          </a:xfrm>
        </p:spPr>
        <p:txBody>
          <a:bodyPr/>
          <a:lstStyle/>
          <a:p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NAME : Suswagata Ghosh</a:t>
            </a:r>
          </a:p>
          <a:p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Internship provider: Infosys Springboard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62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D4C6-D7F0-30A9-0B36-48E23E1C9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9548" y="630751"/>
            <a:ext cx="8791575" cy="1434024"/>
          </a:xfrm>
        </p:spPr>
        <p:txBody>
          <a:bodyPr>
            <a:normAutofit fontScale="90000"/>
          </a:bodyPr>
          <a:lstStyle/>
          <a:p>
            <a:r>
              <a:rPr lang="en-IN" sz="3100" b="1" dirty="0"/>
              <a:t>Methodology:</a:t>
            </a:r>
            <a:br>
              <a:rPr lang="en-IN" sz="3100" b="1" dirty="0"/>
            </a:br>
            <a:r>
              <a:rPr lang="en-IN" sz="3100" b="1" dirty="0"/>
              <a:t>Pipeline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2D4DEE-FB7F-8AC4-8361-393D54FC6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877" y="1465008"/>
            <a:ext cx="9547123" cy="4316360"/>
          </a:xfrm>
        </p:spPr>
        <p:txBody>
          <a:bodyPr>
            <a:noAutofit/>
          </a:bodyPr>
          <a:lstStyle/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Step 1: Data Preparation 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Step 2: Image Preprocessing 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 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Step 3: Defect Detection (Subtraction) 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Step 4: ROI Extraction 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 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Step 5: Model Training (EfficientNet-B4) 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Step 6: Evaluation &amp; Testing 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↓</a:t>
            </a:r>
          </a:p>
          <a:p>
            <a:pPr algn="ctr"/>
            <a:r>
              <a:rPr lang="en-IN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Step 7: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3895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CFF5-FDB8-3D51-6DE3-EE99AAC51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257" y="521109"/>
            <a:ext cx="4513007" cy="2605549"/>
          </a:xfrm>
        </p:spPr>
        <p:txBody>
          <a:bodyPr>
            <a:normAutofit fontScale="90000"/>
          </a:bodyPr>
          <a:lstStyle/>
          <a:p>
            <a:r>
              <a:rPr lang="en-IN" sz="4000" b="1" dirty="0"/>
              <a:t>Technical Stack</a:t>
            </a:r>
            <a:br>
              <a:rPr lang="en-IN" b="1" dirty="0"/>
            </a:b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AB28C-EA7B-D7EC-BB2D-84D4F3237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2257" y="1547094"/>
            <a:ext cx="9674943" cy="453907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Development Environment</a:t>
            </a:r>
          </a:p>
          <a:p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Platform:</a:t>
            </a:r>
            <a:r>
              <a:rPr lang="en-IN" dirty="0">
                <a:solidFill>
                  <a:schemeClr val="bg1"/>
                </a:solidFill>
              </a:rPr>
              <a:t> Google Colab (Cloud GPU)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Language:</a:t>
            </a:r>
            <a:r>
              <a:rPr lang="en-IN" dirty="0">
                <a:solidFill>
                  <a:schemeClr val="bg1"/>
                </a:solidFill>
              </a:rPr>
              <a:t> Python 3.10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Version Control:</a:t>
            </a:r>
            <a:r>
              <a:rPr lang="en-IN" dirty="0">
                <a:solidFill>
                  <a:schemeClr val="bg1"/>
                </a:solidFill>
              </a:rPr>
              <a:t> Git/GitHub</a:t>
            </a:r>
          </a:p>
          <a:p>
            <a:r>
              <a:rPr lang="en-IN" b="1" dirty="0">
                <a:solidFill>
                  <a:schemeClr val="bg1"/>
                </a:solidFill>
              </a:rPr>
              <a:t>Web Framework: </a:t>
            </a:r>
            <a:r>
              <a:rPr lang="en-IN" dirty="0" err="1">
                <a:solidFill>
                  <a:schemeClr val="bg1"/>
                </a:solidFill>
              </a:rPr>
              <a:t>Streamlit</a:t>
            </a:r>
            <a:r>
              <a:rPr lang="en-IN" dirty="0">
                <a:solidFill>
                  <a:schemeClr val="bg1"/>
                </a:solidFill>
              </a:rPr>
              <a:t> 1.28.0</a:t>
            </a:r>
          </a:p>
          <a:p>
            <a:r>
              <a:rPr lang="en-US" b="1" dirty="0">
                <a:solidFill>
                  <a:schemeClr val="bg1"/>
                </a:solidFill>
              </a:rPr>
              <a:t>Data Processing: </a:t>
            </a:r>
            <a:r>
              <a:rPr lang="en-US" dirty="0">
                <a:solidFill>
                  <a:schemeClr val="bg1"/>
                </a:solidFill>
              </a:rPr>
              <a:t>NumPy, Pandas, scikit-learn</a:t>
            </a:r>
          </a:p>
          <a:p>
            <a:r>
              <a:rPr lang="en-IN" b="1" dirty="0">
                <a:solidFill>
                  <a:schemeClr val="bg1"/>
                </a:solidFill>
              </a:rPr>
              <a:t>Libraries: </a:t>
            </a:r>
            <a:r>
              <a:rPr lang="en-IN" dirty="0"/>
              <a:t>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Computer Vision: </a:t>
            </a:r>
            <a:r>
              <a:rPr lang="en-IN" dirty="0">
                <a:solidFill>
                  <a:schemeClr val="bg1"/>
                </a:solidFill>
              </a:rPr>
              <a:t>OpenCV 4.8.0, PIL/Pillow 10.0.0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39CF56-C512-F329-CE2F-AAEF4F9DA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620" y="4350775"/>
            <a:ext cx="411971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2.0.1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torchvision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0.15.2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timm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EfficientNet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11103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F982-4AAF-AA7B-0085-BED70E41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3741" y="403123"/>
            <a:ext cx="8791575" cy="786428"/>
          </a:xfrm>
        </p:spPr>
        <p:txBody>
          <a:bodyPr>
            <a:normAutofit/>
          </a:bodyPr>
          <a:lstStyle/>
          <a:p>
            <a:r>
              <a:rPr lang="en-IN" sz="3200" dirty="0"/>
              <a:t>Module 1 - Data Preparation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4F550-266E-56D0-34D9-515E2F37E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0217" y="1887794"/>
            <a:ext cx="7946002" cy="3500283"/>
          </a:xfrm>
        </p:spPr>
        <p:txBody>
          <a:bodyPr>
            <a:normAutofit fontScale="25000" lnSpcReduction="20000"/>
          </a:bodyPr>
          <a:lstStyle/>
          <a:p>
            <a:r>
              <a:rPr lang="en-IN" sz="55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1. Dataset Loading</a:t>
            </a:r>
            <a:endParaRPr lang="en-IN" sz="55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sz="5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Mounted Google Drive</a:t>
            </a:r>
          </a:p>
          <a:p>
            <a:r>
              <a:rPr lang="en-IN" sz="5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Verified folder structure</a:t>
            </a:r>
          </a:p>
          <a:p>
            <a:r>
              <a:rPr lang="en-IN" sz="5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Parsed 693 XML annotations</a:t>
            </a:r>
          </a:p>
          <a:p>
            <a:endParaRPr lang="en-IN" sz="55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sz="5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2. </a:t>
            </a:r>
            <a:r>
              <a:rPr lang="en-IN" sz="55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Statistical Analysis</a:t>
            </a:r>
            <a:endParaRPr lang="en-IN" sz="55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sz="5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Counted images per category</a:t>
            </a:r>
          </a:p>
          <a:p>
            <a:r>
              <a:rPr lang="en-IN" sz="5500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Analyzed</a:t>
            </a:r>
            <a:r>
              <a:rPr lang="en-IN" sz="5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bounding box distributions</a:t>
            </a:r>
          </a:p>
          <a:p>
            <a:r>
              <a:rPr lang="en-IN" sz="55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Created visualization charts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DC4F1-C7FA-8D51-5AE5-36A28CE09C95}"/>
              </a:ext>
            </a:extLst>
          </p:cNvPr>
          <p:cNvSpPr txBox="1"/>
          <p:nvPr/>
        </p:nvSpPr>
        <p:spPr>
          <a:xfrm>
            <a:off x="6967692" y="1887794"/>
            <a:ext cx="66957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3. </a:t>
            </a:r>
            <a:r>
              <a:rPr lang="en-IN" sz="1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Template Mapping</a:t>
            </a:r>
            <a:endParaRPr lang="en-IN" sz="1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Matched 10 PCB templates to defect images</a:t>
            </a:r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Created template-defect pairs</a:t>
            </a:r>
          </a:p>
          <a:p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IN" sz="1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IN" sz="1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4. Key Outputs</a:t>
            </a:r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Dataset metadata (JSON)</a:t>
            </a:r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Statistical visualizations</a:t>
            </a:r>
          </a:p>
          <a:p>
            <a:r>
              <a:rPr lang="en-IN" sz="1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Category distribution charts</a:t>
            </a:r>
          </a:p>
        </p:txBody>
      </p:sp>
    </p:spTree>
    <p:extLst>
      <p:ext uri="{BB962C8B-B14F-4D97-AF65-F5344CB8AC3E}">
        <p14:creationId xmlns:p14="http://schemas.microsoft.com/office/powerpoint/2010/main" val="2945421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B4C83-16D1-E117-2E21-D35655DC6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579" y="471948"/>
            <a:ext cx="8791575" cy="943744"/>
          </a:xfrm>
        </p:spPr>
        <p:txBody>
          <a:bodyPr>
            <a:normAutofit fontScale="90000"/>
          </a:bodyPr>
          <a:lstStyle/>
          <a:p>
            <a:r>
              <a:rPr lang="fr-FR" sz="3200" dirty="0"/>
              <a:t>Module 2: Contour </a:t>
            </a:r>
            <a:r>
              <a:rPr lang="fr-FR" sz="3200" dirty="0" err="1"/>
              <a:t>Detection</a:t>
            </a:r>
            <a:r>
              <a:rPr lang="fr-FR" sz="3200" dirty="0"/>
              <a:t> &amp; ROI Extraction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E2E431-32DC-DB1F-4718-F7688C9E47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84577" y="1548384"/>
            <a:ext cx="7287241" cy="3761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XML Annotation Parsing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Extracted bounding box coordinates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Identified defect locations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2. ROI Cropping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Extracted 128×128 patches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Resized to uniform dimensions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3. Dataset Organization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var(--font-mono)"/>
              </a:rPr>
              <a:t>Training Dataset/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var(--font-mono)"/>
              </a:rPr>
              <a:t> ├── train/ (70%) → 2,061 samples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var(--font-mono)"/>
              </a:rPr>
              <a:t> ├──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var(--font-mono)"/>
              </a:rPr>
              <a:t>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var(--font-mono)"/>
              </a:rPr>
              <a:t>/ (15%) → 446 samples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cap="none" dirty="0">
                <a:solidFill>
                  <a:schemeClr val="bg1">
                    <a:lumMod val="95000"/>
                    <a:lumOff val="5000"/>
                  </a:schemeClr>
                </a:solidFill>
                <a:latin typeface="var(--font-mono)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var(--font-mono)"/>
              </a:rPr>
              <a:t>└── test/ (15%) → 446 samples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29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00EB-8418-D8A7-5A71-D6A915733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3450" y="648929"/>
            <a:ext cx="9566786" cy="873432"/>
          </a:xfrm>
        </p:spPr>
        <p:txBody>
          <a:bodyPr>
            <a:normAutofit/>
          </a:bodyPr>
          <a:lstStyle/>
          <a:p>
            <a:r>
              <a:rPr lang="en-US" sz="3200" dirty="0"/>
              <a:t>Module 3: Model Training with EfficientNet-B4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A64FF9-6972-F182-EC50-F16A6117C3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55081" y="2041145"/>
            <a:ext cx="6864454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I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Model Selection: EfficientNet-B4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State-of-the-art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 Efficient parameter usage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 Excellent transfer learning capability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cap="none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Optimized for 128×128 inputs </a:t>
            </a:r>
          </a:p>
        </p:txBody>
      </p:sp>
    </p:spTree>
    <p:extLst>
      <p:ext uri="{BB962C8B-B14F-4D97-AF65-F5344CB8AC3E}">
        <p14:creationId xmlns:p14="http://schemas.microsoft.com/office/powerpoint/2010/main" val="2928816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488C-CC80-E723-81B0-2E61E0E8C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853102"/>
            <a:ext cx="8791575" cy="747098"/>
          </a:xfrm>
        </p:spPr>
        <p:txBody>
          <a:bodyPr>
            <a:normAutofit/>
          </a:bodyPr>
          <a:lstStyle/>
          <a:p>
            <a:r>
              <a:rPr lang="en-IN" sz="3200" dirty="0"/>
              <a:t>Module 4: Training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D0808A-8D2C-BB97-2F48-CA04490D09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923708"/>
              </p:ext>
            </p:extLst>
          </p:nvPr>
        </p:nvGraphicFramePr>
        <p:xfrm>
          <a:off x="1986987" y="2254965"/>
          <a:ext cx="9906000" cy="3291346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87693619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4188498676"/>
                    </a:ext>
                  </a:extLst>
                </a:gridCol>
              </a:tblGrid>
              <a:tr h="498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u="sng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u="sng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102789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Training Time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26.08 minutes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009595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Epochs Trained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34 (early stopped)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684820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Best Val Accuracy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97.31%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629831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Test Accuracy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97.76%</a:t>
                      </a:r>
                      <a:r>
                        <a:rPr lang="en-IN"/>
                        <a:t> 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101767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Precision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0.9776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284322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Recall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0.9776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1401"/>
                  </a:ext>
                </a:extLst>
              </a:tr>
              <a:tr h="39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F1-Score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0.9775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45069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64DF76A-30B3-1512-EED4-CCDD14EF2F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76424" y="1507867"/>
            <a:ext cx="705869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F9434-304B-A454-E9F5-0145D670EC13}"/>
              </a:ext>
            </a:extLst>
          </p:cNvPr>
          <p:cNvSpPr txBox="1"/>
          <p:nvPr/>
        </p:nvSpPr>
        <p:spPr>
          <a:xfrm>
            <a:off x="2596587" y="571251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Exceeded target accuracy of 97%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1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B388-83D3-1431-97CE-855712156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355447"/>
            <a:ext cx="8791575" cy="1060398"/>
          </a:xfrm>
        </p:spPr>
        <p:txBody>
          <a:bodyPr>
            <a:normAutofit/>
          </a:bodyPr>
          <a:lstStyle/>
          <a:p>
            <a:r>
              <a:rPr lang="en-IN" sz="3200" dirty="0"/>
              <a:t>Training History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33B22-35A5-BB64-83E6-794C1F8B9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452" y="1779639"/>
            <a:ext cx="10078065" cy="3962400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Loss &amp; Accuracy Curves</a:t>
            </a:r>
          </a:p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Training Progress: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Smooth convergence over 34 epochs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No overfitting observed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Validation accuracy closely tracked training</a:t>
            </a:r>
          </a:p>
          <a:p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Observations:</a:t>
            </a: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Stable training performance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Early stopping prevented overfitting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Consistent improvement across epochs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95000"/>
                    <a:lumOff val="5000"/>
                  </a:schemeClr>
                </a:solidFill>
              </a:rPr>
              <a:t>High generalization capability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628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A57A-75D4-5F3F-BA17-4D87E2AAE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6621" y="865238"/>
            <a:ext cx="8888360" cy="806246"/>
          </a:xfrm>
        </p:spPr>
        <p:txBody>
          <a:bodyPr>
            <a:normAutofit/>
          </a:bodyPr>
          <a:lstStyle/>
          <a:p>
            <a:r>
              <a:rPr lang="en-IN" sz="3200" dirty="0"/>
              <a:t>Confusion Matrix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C4969-26B6-E3A2-8A64-63DC8D06A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5013" y="2382837"/>
            <a:ext cx="9833026" cy="3609925"/>
          </a:xfrm>
        </p:spPr>
        <p:txBody>
          <a:bodyPr>
            <a:normAutofit fontScale="40000" lnSpcReduction="20000"/>
          </a:bodyPr>
          <a:lstStyle/>
          <a:p>
            <a:r>
              <a:rPr lang="en-US" sz="5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Strong Diagonal Performance</a:t>
            </a:r>
            <a:endParaRPr lang="en-US" sz="5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Most predictions fall on diagonal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Minimal confusion between classes</a:t>
            </a:r>
          </a:p>
          <a:p>
            <a:endParaRPr lang="en-US" sz="5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5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Confidence Analysis</a:t>
            </a:r>
          </a:p>
          <a:p>
            <a:r>
              <a:rPr lang="en-US" sz="5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Mean Confidence:</a:t>
            </a:r>
            <a:endParaRPr lang="en-US" sz="5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Correct Predictions: 98.5%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Incorrect Predictions: 72.3%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E67C4-A0FB-CD07-3B86-4BAE6A709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207" y="2251588"/>
            <a:ext cx="4215515" cy="36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7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97A8-A2BA-52B5-77D0-7F96D22EA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472" y="685952"/>
            <a:ext cx="8947354" cy="560286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 Web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D5CB4-ADD0-7FEA-E9CE-758EB9F96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453" y="1730476"/>
            <a:ext cx="10274710" cy="435569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Features Implemented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Image Upload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Drag &amp; drop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File browser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Real-time preview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 Prediction Engine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Single image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Confidence scoring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Top-3 predictions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7941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2EA6-3137-00B8-2E25-6BE7EA872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912095"/>
            <a:ext cx="8791575" cy="688105"/>
          </a:xfrm>
        </p:spPr>
        <p:txBody>
          <a:bodyPr>
            <a:normAutofit/>
          </a:bodyPr>
          <a:lstStyle/>
          <a:p>
            <a:r>
              <a:rPr lang="en-IN" sz="3600" dirty="0"/>
              <a:t>Web Application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DC4CD-899E-45D0-DBEF-85E7A9F43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2734" y="1720644"/>
            <a:ext cx="10099266" cy="4758814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Step 1: Upload Image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Drag &amp; drop PCB defect image</a:t>
            </a:r>
          </a:p>
          <a:p>
            <a:r>
              <a:rPr lang="en-IN" dirty="0">
                <a:solidFill>
                  <a:schemeClr val="bg1"/>
                </a:solidFill>
              </a:rPr>
              <a:t>Preview uploaded image</a:t>
            </a:r>
          </a:p>
          <a:p>
            <a:r>
              <a:rPr lang="en-IN" b="1" dirty="0">
                <a:solidFill>
                  <a:schemeClr val="bg1"/>
                </a:solidFill>
              </a:rPr>
              <a:t>Step 2: </a:t>
            </a:r>
            <a:r>
              <a:rPr lang="en-IN" b="1" dirty="0" err="1">
                <a:solidFill>
                  <a:schemeClr val="bg1"/>
                </a:solidFill>
              </a:rPr>
              <a:t>Analyze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Click "</a:t>
            </a:r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 Defect" button</a:t>
            </a:r>
          </a:p>
          <a:p>
            <a:r>
              <a:rPr lang="en-IN" dirty="0">
                <a:solidFill>
                  <a:schemeClr val="bg1"/>
                </a:solidFill>
              </a:rPr>
              <a:t>Processing &lt; 1 second</a:t>
            </a:r>
          </a:p>
          <a:p>
            <a:r>
              <a:rPr lang="en-IN" b="1" dirty="0">
                <a:solidFill>
                  <a:schemeClr val="bg1"/>
                </a:solidFill>
              </a:rPr>
              <a:t>Step 3: View Results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Predicted defect class</a:t>
            </a:r>
          </a:p>
          <a:p>
            <a:r>
              <a:rPr lang="en-IN" dirty="0">
                <a:solidFill>
                  <a:schemeClr val="bg1"/>
                </a:solidFill>
              </a:rPr>
              <a:t>Confidence percentage</a:t>
            </a:r>
          </a:p>
          <a:p>
            <a:r>
              <a:rPr lang="en-IN" dirty="0">
                <a:solidFill>
                  <a:schemeClr val="bg1"/>
                </a:solidFill>
              </a:rPr>
              <a:t>Probability distribution chart</a:t>
            </a:r>
          </a:p>
          <a:p>
            <a:r>
              <a:rPr lang="en-IN" b="1" dirty="0">
                <a:solidFill>
                  <a:schemeClr val="bg1"/>
                </a:solidFill>
              </a:rPr>
              <a:t>Step 4: Export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Download annotated images</a:t>
            </a:r>
          </a:p>
          <a:p>
            <a:r>
              <a:rPr lang="en-IN" dirty="0">
                <a:solidFill>
                  <a:schemeClr val="bg1"/>
                </a:solidFill>
              </a:rPr>
              <a:t>Export prediction logs (CSV)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793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935B1-9359-B306-578C-2CD8BF64A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-116501"/>
            <a:ext cx="8791575" cy="2387600"/>
          </a:xfrm>
        </p:spPr>
        <p:txBody>
          <a:bodyPr/>
          <a:lstStyle/>
          <a:p>
            <a:r>
              <a:rPr lang="en-IN" sz="3600" b="1" dirty="0"/>
              <a:t>Application Features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69E37-3BD9-0F19-2B41-CA968DB76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2929" y="1740309"/>
            <a:ext cx="7846141" cy="447859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Two Operating Modes</a:t>
            </a:r>
          </a:p>
          <a:p>
            <a:r>
              <a:rPr lang="en-IN" b="1" dirty="0">
                <a:solidFill>
                  <a:schemeClr val="bg1"/>
                </a:solidFill>
              </a:rPr>
              <a:t>1. Classification Only</a:t>
            </a:r>
          </a:p>
          <a:p>
            <a:r>
              <a:rPr lang="en-IN" dirty="0">
                <a:solidFill>
                  <a:schemeClr val="bg1"/>
                </a:solidFill>
              </a:rPr>
              <a:t>Direct defect classification</a:t>
            </a:r>
          </a:p>
          <a:p>
            <a:r>
              <a:rPr lang="en-IN" dirty="0">
                <a:solidFill>
                  <a:schemeClr val="bg1"/>
                </a:solidFill>
              </a:rPr>
              <a:t>Single image input</a:t>
            </a:r>
          </a:p>
          <a:p>
            <a:r>
              <a:rPr lang="en-IN" dirty="0">
                <a:solidFill>
                  <a:schemeClr val="bg1"/>
                </a:solidFill>
              </a:rPr>
              <a:t>Fast inference</a:t>
            </a:r>
          </a:p>
          <a:p>
            <a:r>
              <a:rPr lang="en-IN" b="1" dirty="0">
                <a:solidFill>
                  <a:schemeClr val="bg1"/>
                </a:solidFill>
              </a:rPr>
              <a:t>2. Full Pipeline Mode</a:t>
            </a:r>
          </a:p>
          <a:p>
            <a:r>
              <a:rPr lang="en-IN" dirty="0">
                <a:solidFill>
                  <a:schemeClr val="bg1"/>
                </a:solidFill>
              </a:rPr>
              <a:t>Template comparison</a:t>
            </a:r>
          </a:p>
          <a:p>
            <a:r>
              <a:rPr lang="en-IN" dirty="0">
                <a:solidFill>
                  <a:schemeClr val="bg1"/>
                </a:solidFill>
              </a:rPr>
              <a:t>Image subtraction</a:t>
            </a:r>
          </a:p>
          <a:p>
            <a:r>
              <a:rPr lang="en-IN" dirty="0">
                <a:solidFill>
                  <a:schemeClr val="bg1"/>
                </a:solidFill>
              </a:rPr>
              <a:t>Contour detection</a:t>
            </a:r>
          </a:p>
          <a:p>
            <a:r>
              <a:rPr lang="en-IN" dirty="0">
                <a:solidFill>
                  <a:schemeClr val="bg1"/>
                </a:solidFill>
              </a:rPr>
              <a:t>Multiple ROI classification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694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D794-124E-AD62-B653-3666B7255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3572" y="717754"/>
            <a:ext cx="7395395" cy="599769"/>
          </a:xfrm>
        </p:spPr>
        <p:txBody>
          <a:bodyPr>
            <a:normAutofit/>
          </a:bodyPr>
          <a:lstStyle/>
          <a:p>
            <a:r>
              <a:rPr lang="en-IN" sz="3600" dirty="0"/>
              <a:t>Future Enhancements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F8E24-3D4C-E6AE-8034-35206E40D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572" y="1425676"/>
            <a:ext cx="9901084" cy="4601497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Cloud-based solution</a:t>
            </a:r>
          </a:p>
          <a:p>
            <a:r>
              <a:rPr lang="en-IN" b="1" dirty="0">
                <a:solidFill>
                  <a:schemeClr val="bg1"/>
                </a:solidFill>
              </a:rPr>
              <a:t>Model Improvements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Ensemble methods (multi-model voting)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Self-attention mechanisms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Semi-supervised learning</a:t>
            </a:r>
          </a:p>
          <a:p>
            <a:r>
              <a:rPr lang="en-IN" b="1" dirty="0">
                <a:solidFill>
                  <a:schemeClr val="bg1"/>
                </a:solidFill>
              </a:rPr>
              <a:t>Application Features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Batch processing capability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Real-time video stream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Mobile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2631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{4C0EF5E8-C80A-44AA-BBA8-28D57D4443EC}tf04033919</Template>
  <TotalTime>144</TotalTime>
  <Words>542</Words>
  <Application>Microsoft Office PowerPoint</Application>
  <PresentationFormat>Widescreen</PresentationFormat>
  <Paragraphs>155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Tw Cen MT</vt:lpstr>
      <vt:lpstr>var(--font-mono)</vt:lpstr>
      <vt:lpstr>Circuit</vt:lpstr>
      <vt:lpstr>CircuitGuard - PCB Defect Detection and Classification Application</vt:lpstr>
      <vt:lpstr>Methodology: Pipeline Architecture </vt:lpstr>
      <vt:lpstr>Technical Stack   </vt:lpstr>
      <vt:lpstr>Module 1 - Data Preparation</vt:lpstr>
      <vt:lpstr>Module 2: Contour Detection &amp; ROI Extraction</vt:lpstr>
      <vt:lpstr>Module 3: Model Training with EfficientNet-B4</vt:lpstr>
      <vt:lpstr>Module 4: Training Results</vt:lpstr>
      <vt:lpstr>Training History</vt:lpstr>
      <vt:lpstr>Confusion Matrix</vt:lpstr>
      <vt:lpstr> Web Application</vt:lpstr>
      <vt:lpstr>Web Application Interface</vt:lpstr>
      <vt:lpstr>Application Features 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Suswagata Ghosh</dc:creator>
  <cp:lastModifiedBy>Suswagata Ghosh</cp:lastModifiedBy>
  <cp:revision>2</cp:revision>
  <dcterms:created xsi:type="dcterms:W3CDTF">2025-12-05T22:26:32Z</dcterms:created>
  <dcterms:modified xsi:type="dcterms:W3CDTF">2025-12-06T11:17:17Z</dcterms:modified>
</cp:coreProperties>
</file>