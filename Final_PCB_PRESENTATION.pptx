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80" r:id="rId4"/>
    <p:sldId id="281" r:id="rId5"/>
    <p:sldId id="282" r:id="rId6"/>
    <p:sldId id="284" r:id="rId7"/>
    <p:sldId id="285" r:id="rId8"/>
    <p:sldId id="286" r:id="rId9"/>
    <p:sldId id="287" r:id="rId10"/>
    <p:sldId id="288" r:id="rId11"/>
    <p:sldId id="289" r:id="rId12"/>
    <p:sldId id="290" r:id="rId13"/>
    <p:sldId id="291" r:id="rId14"/>
    <p:sldId id="292" r:id="rId15"/>
  </p:sldIdLst>
  <p:sldSz cx="9144000" cy="6858000" type="screen4x3"/>
  <p:notesSz cx="6858000" cy="9144000"/>
  <p:defaultTextStyle>
    <a:defPPr>
      <a:defRPr lang="en-IN"/>
    </a:defPPr>
    <a:lvl1pPr algn="ctr"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84CC"/>
    <a:srgbClr val="03136A"/>
    <a:srgbClr val="35759D"/>
    <a:srgbClr val="35B19D"/>
    <a:srgbClr val="000000"/>
    <a:srgbClr val="FFFF00"/>
    <a:srgbClr val="B3D3EA"/>
    <a:srgbClr val="78ADC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23" autoAdjust="0"/>
    <p:restoredTop sz="95596" autoAdjust="0"/>
  </p:normalViewPr>
  <p:slideViewPr>
    <p:cSldViewPr>
      <p:cViewPr>
        <p:scale>
          <a:sx n="82" d="100"/>
          <a:sy n="82" d="100"/>
        </p:scale>
        <p:origin x="1526" y="-23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0D830349-024F-A080-C634-7C79BF01C2CA}"/>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IN" altLang="en-US"/>
          </a:p>
        </p:txBody>
      </p:sp>
      <p:sp>
        <p:nvSpPr>
          <p:cNvPr id="81923" name="Rectangle 3">
            <a:extLst>
              <a:ext uri="{FF2B5EF4-FFF2-40B4-BE49-F238E27FC236}">
                <a16:creationId xmlns:a16="http://schemas.microsoft.com/office/drawing/2014/main" id="{487FEF55-E331-66D6-A9CE-0F23FF455002}"/>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IN" altLang="en-US"/>
          </a:p>
        </p:txBody>
      </p:sp>
      <p:sp>
        <p:nvSpPr>
          <p:cNvPr id="81924" name="Rectangle 4">
            <a:extLst>
              <a:ext uri="{FF2B5EF4-FFF2-40B4-BE49-F238E27FC236}">
                <a16:creationId xmlns:a16="http://schemas.microsoft.com/office/drawing/2014/main" id="{900D32DF-2F5A-E2E0-C70B-45C2C44D3907}"/>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789DA29F-A116-E088-34CC-E955077AEF7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IN" altLang="en-US"/>
              <a:t>Click to edit Master text styles</a:t>
            </a:r>
          </a:p>
          <a:p>
            <a:pPr lvl="1"/>
            <a:r>
              <a:rPr lang="en-IN" altLang="en-US"/>
              <a:t>Second level</a:t>
            </a:r>
          </a:p>
          <a:p>
            <a:pPr lvl="2"/>
            <a:r>
              <a:rPr lang="en-IN" altLang="en-US"/>
              <a:t>Third level</a:t>
            </a:r>
          </a:p>
          <a:p>
            <a:pPr lvl="3"/>
            <a:r>
              <a:rPr lang="en-IN" altLang="en-US"/>
              <a:t>Fourth level</a:t>
            </a:r>
          </a:p>
          <a:p>
            <a:pPr lvl="4"/>
            <a:r>
              <a:rPr lang="en-IN" altLang="en-US"/>
              <a:t>Fifth level</a:t>
            </a:r>
          </a:p>
        </p:txBody>
      </p:sp>
      <p:sp>
        <p:nvSpPr>
          <p:cNvPr id="81926" name="Rectangle 6">
            <a:extLst>
              <a:ext uri="{FF2B5EF4-FFF2-40B4-BE49-F238E27FC236}">
                <a16:creationId xmlns:a16="http://schemas.microsoft.com/office/drawing/2014/main" id="{20AD1055-CFB2-9185-D990-FBA49F5765E8}"/>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IN" altLang="en-US"/>
          </a:p>
        </p:txBody>
      </p:sp>
      <p:sp>
        <p:nvSpPr>
          <p:cNvPr id="81927" name="Rectangle 7">
            <a:extLst>
              <a:ext uri="{FF2B5EF4-FFF2-40B4-BE49-F238E27FC236}">
                <a16:creationId xmlns:a16="http://schemas.microsoft.com/office/drawing/2014/main" id="{BA5F902D-2EFA-9BB9-AF6E-C6778D1B5EC3}"/>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E1A1B8DC-2638-4B67-B3A1-C75AAB345F04}" type="slidenum">
              <a:rPr lang="en-IN" altLang="en-US"/>
              <a:pPr/>
              <a:t>‹#›</a:t>
            </a:fld>
            <a:endParaRPr lang="en-I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6F0FE77-3A51-70D6-6DA3-C501984C33EA}"/>
              </a:ext>
            </a:extLst>
          </p:cNvPr>
          <p:cNvSpPr>
            <a:spLocks noGrp="1" noChangeArrowheads="1"/>
          </p:cNvSpPr>
          <p:nvPr>
            <p:ph type="sldNum" sz="quarter" idx="5"/>
          </p:nvPr>
        </p:nvSpPr>
        <p:spPr>
          <a:ln/>
        </p:spPr>
        <p:txBody>
          <a:bodyPr/>
          <a:lstStyle/>
          <a:p>
            <a:fld id="{679F4851-05F4-4A52-AC21-F36C9868F15C}" type="slidenum">
              <a:rPr lang="en-IN" altLang="en-US"/>
              <a:pPr/>
              <a:t>1</a:t>
            </a:fld>
            <a:endParaRPr lang="en-IN" altLang="en-US"/>
          </a:p>
        </p:txBody>
      </p:sp>
      <p:sp>
        <p:nvSpPr>
          <p:cNvPr id="107522" name="Rectangle 2">
            <a:extLst>
              <a:ext uri="{FF2B5EF4-FFF2-40B4-BE49-F238E27FC236}">
                <a16:creationId xmlns:a16="http://schemas.microsoft.com/office/drawing/2014/main" id="{777B2A42-9A38-3B1A-E5E5-49899270AE42}"/>
              </a:ext>
            </a:extLst>
          </p:cNvPr>
          <p:cNvSpPr>
            <a:spLocks noRot="1" noChangeArrowheads="1" noTextEdit="1"/>
          </p:cNvSpPr>
          <p:nvPr>
            <p:ph type="sldImg"/>
          </p:nvPr>
        </p:nvSpPr>
        <p:spPr>
          <a:ln/>
        </p:spPr>
      </p:sp>
      <p:sp>
        <p:nvSpPr>
          <p:cNvPr id="107523" name="Rectangle 3">
            <a:extLst>
              <a:ext uri="{FF2B5EF4-FFF2-40B4-BE49-F238E27FC236}">
                <a16:creationId xmlns:a16="http://schemas.microsoft.com/office/drawing/2014/main" id="{25EE721B-4F95-86BA-EAEA-E4C42DF0FF33}"/>
              </a:ext>
            </a:extLst>
          </p:cNvPr>
          <p:cNvSpPr>
            <a:spLocks noGrp="1" noChangeArrowheads="1"/>
          </p:cNvSpPr>
          <p:nvPr>
            <p:ph type="body" idx="1"/>
          </p:nvPr>
        </p:nvSpPr>
        <p:spPr/>
        <p:txBody>
          <a:bodyPr/>
          <a:lstStyle/>
          <a:p>
            <a:endParaRPr lang="ru-RU"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5971486-49C3-59AE-E852-1CC8B06D04AD}"/>
              </a:ext>
            </a:extLst>
          </p:cNvPr>
          <p:cNvSpPr>
            <a:spLocks noGrp="1" noChangeArrowheads="1"/>
          </p:cNvSpPr>
          <p:nvPr>
            <p:ph type="sldNum" sz="quarter" idx="5"/>
          </p:nvPr>
        </p:nvSpPr>
        <p:spPr>
          <a:ln/>
        </p:spPr>
        <p:txBody>
          <a:bodyPr/>
          <a:lstStyle/>
          <a:p>
            <a:fld id="{82221229-7523-4F55-859F-9471748B3DAF}" type="slidenum">
              <a:rPr lang="en-IN" altLang="en-US"/>
              <a:pPr/>
              <a:t>2</a:t>
            </a:fld>
            <a:endParaRPr lang="en-IN" altLang="en-US"/>
          </a:p>
        </p:txBody>
      </p:sp>
      <p:sp>
        <p:nvSpPr>
          <p:cNvPr id="112642" name="Rectangle 2">
            <a:extLst>
              <a:ext uri="{FF2B5EF4-FFF2-40B4-BE49-F238E27FC236}">
                <a16:creationId xmlns:a16="http://schemas.microsoft.com/office/drawing/2014/main" id="{0AB8EA3A-C44E-10EE-D61E-C49F98B98190}"/>
              </a:ext>
            </a:extLst>
          </p:cNvPr>
          <p:cNvSpPr>
            <a:spLocks noRot="1" noChangeArrowheads="1" noTextEdit="1"/>
          </p:cNvSpPr>
          <p:nvPr>
            <p:ph type="sldImg"/>
          </p:nvPr>
        </p:nvSpPr>
        <p:spPr>
          <a:ln/>
        </p:spPr>
      </p:sp>
      <p:sp>
        <p:nvSpPr>
          <p:cNvPr id="112643" name="Rectangle 3">
            <a:extLst>
              <a:ext uri="{FF2B5EF4-FFF2-40B4-BE49-F238E27FC236}">
                <a16:creationId xmlns:a16="http://schemas.microsoft.com/office/drawing/2014/main" id="{26AE0D15-27FD-DCB4-713E-8F151C0FED2A}"/>
              </a:ext>
            </a:extLst>
          </p:cNvPr>
          <p:cNvSpPr>
            <a:spLocks noGrp="1" noChangeArrowheads="1"/>
          </p:cNvSpPr>
          <p:nvPr>
            <p:ph type="body" idx="1"/>
          </p:nvPr>
        </p:nvSpPr>
        <p:spPr/>
        <p:txBody>
          <a:bodyPr/>
          <a:lstStyle/>
          <a:p>
            <a:endParaRPr lang="ru-RU"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8EB1F381-D388-5B95-9723-E52617F69498}"/>
              </a:ext>
            </a:extLst>
          </p:cNvPr>
          <p:cNvSpPr>
            <a:spLocks noGrp="1" noChangeArrowheads="1"/>
          </p:cNvSpPr>
          <p:nvPr>
            <p:ph type="ctrTitle"/>
          </p:nvPr>
        </p:nvSpPr>
        <p:spPr>
          <a:xfrm>
            <a:off x="542925" y="2914650"/>
            <a:ext cx="8153400" cy="704850"/>
          </a:xfrm>
          <a:extLst>
            <a:ext uri="{AF507438-7753-43E0-B8FC-AC1667EBCBE1}">
              <a14:hiddenEffects xmlns:a14="http://schemas.microsoft.com/office/drawing/2010/main">
                <a:effectLst>
                  <a:outerShdw dist="17961" dir="2700000" algn="ctr" rotWithShape="0">
                    <a:schemeClr val="bg1"/>
                  </a:outerShdw>
                </a:effectLst>
              </a14:hiddenEffects>
            </a:ext>
          </a:extLst>
        </p:spPr>
        <p:txBody>
          <a:bodyPr/>
          <a:lstStyle>
            <a:lvl1pPr algn="ctr">
              <a:defRPr sz="3600"/>
            </a:lvl1pPr>
          </a:lstStyle>
          <a:p>
            <a:pPr lvl="0"/>
            <a:r>
              <a:rPr lang="en-US" altLang="en-US" noProof="0"/>
              <a:t>Click to edit Master title style</a:t>
            </a:r>
            <a:endParaRPr lang="en-IN" altLang="en-US" noProof="0"/>
          </a:p>
        </p:txBody>
      </p:sp>
      <p:sp>
        <p:nvSpPr>
          <p:cNvPr id="3075" name="Rectangle 3">
            <a:extLst>
              <a:ext uri="{FF2B5EF4-FFF2-40B4-BE49-F238E27FC236}">
                <a16:creationId xmlns:a16="http://schemas.microsoft.com/office/drawing/2014/main" id="{24218423-DE09-B99A-CD52-4A64406E2D85}"/>
              </a:ext>
            </a:extLst>
          </p:cNvPr>
          <p:cNvSpPr>
            <a:spLocks noGrp="1" noChangeArrowheads="1"/>
          </p:cNvSpPr>
          <p:nvPr>
            <p:ph type="subTitle" idx="1"/>
          </p:nvPr>
        </p:nvSpPr>
        <p:spPr>
          <a:xfrm>
            <a:off x="542925" y="3638550"/>
            <a:ext cx="8153400" cy="685800"/>
          </a:xfrm>
          <a:extLst>
            <a:ext uri="{AF507438-7753-43E0-B8FC-AC1667EBCBE1}">
              <a14:hiddenEffects xmlns:a14="http://schemas.microsoft.com/office/drawing/2010/main">
                <a:effectLst>
                  <a:outerShdw dist="17961" dir="2700000" algn="ctr" rotWithShape="0">
                    <a:schemeClr val="bg1"/>
                  </a:outerShdw>
                </a:effectLst>
              </a14:hiddenEffects>
            </a:ext>
          </a:extLst>
        </p:spPr>
        <p:txBody>
          <a:bodyPr/>
          <a:lstStyle>
            <a:lvl1pPr marL="0" indent="0" algn="ctr">
              <a:buFontTx/>
              <a:buNone/>
              <a:defRPr sz="2400"/>
            </a:lvl1pPr>
          </a:lstStyle>
          <a:p>
            <a:pPr lvl="0"/>
            <a:r>
              <a:rPr lang="en-US" altLang="en-US" noProof="0"/>
              <a:t>Click to edit Master subtitle style</a:t>
            </a:r>
            <a:endParaRPr lang="en-IN" alt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397FF-B26F-6C78-D834-92BB3AFA97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926211-FC3C-C692-9414-59D820B9C5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25971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E9284-34C1-D81D-2298-D76CD7B001DA}"/>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6CE3BF1-A78F-F363-39A7-5B5148F5713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3694547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CB398-D428-2829-9F3C-61B97B47E91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4286AD-6DFC-9945-18CB-9A57545E4823}"/>
              </a:ext>
            </a:extLst>
          </p:cNvPr>
          <p:cNvSpPr>
            <a:spLocks noGrp="1"/>
          </p:cNvSpPr>
          <p:nvPr>
            <p:ph sz="half" idx="1"/>
          </p:nvPr>
        </p:nvSpPr>
        <p:spPr>
          <a:xfrm>
            <a:off x="1066800" y="2057400"/>
            <a:ext cx="35814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F219D70-95AF-B188-8275-39BEBAEEE24A}"/>
              </a:ext>
            </a:extLst>
          </p:cNvPr>
          <p:cNvSpPr>
            <a:spLocks noGrp="1"/>
          </p:cNvSpPr>
          <p:nvPr>
            <p:ph sz="half" idx="2"/>
          </p:nvPr>
        </p:nvSpPr>
        <p:spPr>
          <a:xfrm>
            <a:off x="4800600" y="2057400"/>
            <a:ext cx="35814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93301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5D48A-88CC-94CF-7671-5A7193948123}"/>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3C9D61-9C2A-E426-3D10-1802376E6517}"/>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11D5AE-DF85-FCCC-E640-E639ECB1E80A}"/>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27BDCC5-469A-E73C-2F0A-BA8FAA493F5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518353-9B98-C379-9A60-648ACA549EFE}"/>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193218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5B36-58BE-8B2A-DBCC-2E0D1AC8AD81}"/>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1116075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6172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2FE9A-7329-E2C4-229D-2F0EA3639CC0}"/>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D984314-7CE4-83A3-2AE8-911C42DE0F6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AEF42A-B571-2B16-5F03-01A87F3D9EE4}"/>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52062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BECB5-E101-D440-F02F-2E889FC72120}"/>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599BE5-AC9C-817A-9B92-F3D98A8D3F4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B0A71FBB-ECEA-1A4D-C3E9-DD95E3DAF2F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461563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95A82-7363-C87A-5602-DBD1D5CDF99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ED64EC3-A699-376A-7A45-E62C36FD64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015615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C707AC-06B6-A88B-D7D9-0193E12AF345}"/>
              </a:ext>
            </a:extLst>
          </p:cNvPr>
          <p:cNvSpPr>
            <a:spLocks noGrp="1"/>
          </p:cNvSpPr>
          <p:nvPr>
            <p:ph type="title" orient="vert"/>
          </p:nvPr>
        </p:nvSpPr>
        <p:spPr>
          <a:xfrm>
            <a:off x="6600825" y="808038"/>
            <a:ext cx="2171700" cy="5440362"/>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60EBC8-AC4C-7551-3283-03882FC48FD2}"/>
              </a:ext>
            </a:extLst>
          </p:cNvPr>
          <p:cNvSpPr>
            <a:spLocks noGrp="1"/>
          </p:cNvSpPr>
          <p:nvPr>
            <p:ph type="body" orient="vert" idx="1"/>
          </p:nvPr>
        </p:nvSpPr>
        <p:spPr>
          <a:xfrm>
            <a:off x="85725" y="808038"/>
            <a:ext cx="6362700" cy="5440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652275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856AC6E-A264-C672-058B-F999C3802703}"/>
              </a:ext>
            </a:extLst>
          </p:cNvPr>
          <p:cNvSpPr>
            <a:spLocks noGrp="1" noChangeArrowheads="1"/>
          </p:cNvSpPr>
          <p:nvPr>
            <p:ph type="title"/>
          </p:nvPr>
        </p:nvSpPr>
        <p:spPr bwMode="auto">
          <a:xfrm>
            <a:off x="85725" y="808038"/>
            <a:ext cx="86868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Rectangle 3">
            <a:extLst>
              <a:ext uri="{FF2B5EF4-FFF2-40B4-BE49-F238E27FC236}">
                <a16:creationId xmlns:a16="http://schemas.microsoft.com/office/drawing/2014/main" id="{638A8F64-191F-F1D5-EACF-280CE1A84603}"/>
              </a:ext>
            </a:extLst>
          </p:cNvPr>
          <p:cNvSpPr>
            <a:spLocks noGrp="1" noChangeArrowheads="1"/>
          </p:cNvSpPr>
          <p:nvPr>
            <p:ph type="body" idx="1"/>
          </p:nvPr>
        </p:nvSpPr>
        <p:spPr bwMode="auto">
          <a:xfrm>
            <a:off x="1066800" y="2057400"/>
            <a:ext cx="73152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4400" kern="1200">
          <a:solidFill>
            <a:schemeClr val="bg1"/>
          </a:solidFill>
          <a:latin typeface="+mj-lt"/>
          <a:ea typeface="+mj-ea"/>
          <a:cs typeface="+mj-cs"/>
        </a:defRPr>
      </a:lvl1pPr>
      <a:lvl2pPr algn="l" rtl="0" eaLnBrk="1" fontAlgn="base" hangingPunct="1">
        <a:spcBef>
          <a:spcPct val="0"/>
        </a:spcBef>
        <a:spcAft>
          <a:spcPct val="0"/>
        </a:spcAft>
        <a:defRPr sz="4400">
          <a:solidFill>
            <a:schemeClr val="bg1"/>
          </a:solidFill>
          <a:latin typeface="Microsoft Sans Serif" panose="020B0604020202020204" pitchFamily="34" charset="0"/>
        </a:defRPr>
      </a:lvl2pPr>
      <a:lvl3pPr algn="l" rtl="0" eaLnBrk="1" fontAlgn="base" hangingPunct="1">
        <a:spcBef>
          <a:spcPct val="0"/>
        </a:spcBef>
        <a:spcAft>
          <a:spcPct val="0"/>
        </a:spcAft>
        <a:defRPr sz="4400">
          <a:solidFill>
            <a:schemeClr val="bg1"/>
          </a:solidFill>
          <a:latin typeface="Microsoft Sans Serif" panose="020B0604020202020204" pitchFamily="34" charset="0"/>
        </a:defRPr>
      </a:lvl3pPr>
      <a:lvl4pPr algn="l" rtl="0" eaLnBrk="1" fontAlgn="base" hangingPunct="1">
        <a:spcBef>
          <a:spcPct val="0"/>
        </a:spcBef>
        <a:spcAft>
          <a:spcPct val="0"/>
        </a:spcAft>
        <a:defRPr sz="4400">
          <a:solidFill>
            <a:schemeClr val="bg1"/>
          </a:solidFill>
          <a:latin typeface="Microsoft Sans Serif" panose="020B0604020202020204" pitchFamily="34" charset="0"/>
        </a:defRPr>
      </a:lvl4pPr>
      <a:lvl5pPr algn="l" rtl="0" eaLnBrk="1" fontAlgn="base" hangingPunct="1">
        <a:spcBef>
          <a:spcPct val="0"/>
        </a:spcBef>
        <a:spcAft>
          <a:spcPct val="0"/>
        </a:spcAft>
        <a:defRPr sz="4400">
          <a:solidFill>
            <a:schemeClr val="bg1"/>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bg1"/>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bg1"/>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bg1"/>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bg1"/>
          </a:solidFill>
          <a:latin typeface="Microsoft Sans Serif"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bg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bg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bg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bg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a:extLst>
              <a:ext uri="{FF2B5EF4-FFF2-40B4-BE49-F238E27FC236}">
                <a16:creationId xmlns:a16="http://schemas.microsoft.com/office/drawing/2014/main" id="{6375BEEA-196D-CBAB-1C17-9D37CD3F179F}"/>
              </a:ext>
            </a:extLst>
          </p:cNvPr>
          <p:cNvSpPr>
            <a:spLocks noGrp="1" noChangeArrowheads="1"/>
          </p:cNvSpPr>
          <p:nvPr>
            <p:ph type="subTitle" idx="1"/>
          </p:nvPr>
        </p:nvSpPr>
        <p:spPr>
          <a:xfrm>
            <a:off x="6804247" y="4293096"/>
            <a:ext cx="2339753" cy="648072"/>
          </a:xfrm>
          <a:extLst>
            <a:ext uri="{AF507438-7753-43E0-B8FC-AC1667EBCBE1}">
              <a14:hiddenEffects xmlns:a14="http://schemas.microsoft.com/office/drawing/2010/main">
                <a:effectLst>
                  <a:outerShdw dist="17961" dir="2700000" algn="ctr" rotWithShape="0">
                    <a:schemeClr val="bg2"/>
                  </a:outerShdw>
                </a:effectLst>
              </a14:hiddenEffects>
            </a:ext>
          </a:extLst>
        </p:spPr>
        <p:txBody>
          <a:bodyPr/>
          <a:lstStyle/>
          <a:p>
            <a:r>
              <a:rPr lang="en-IN" altLang="en-US" sz="1600" u="sng" dirty="0"/>
              <a:t>Presented By</a:t>
            </a:r>
            <a:r>
              <a:rPr lang="en-IN" altLang="en-US" sz="1600" dirty="0"/>
              <a:t>:</a:t>
            </a:r>
            <a:br>
              <a:rPr lang="en-IN" altLang="en-US" sz="1600" dirty="0"/>
            </a:br>
            <a:r>
              <a:rPr lang="en-IN" altLang="en-US" sz="1600" dirty="0"/>
              <a:t>K. Snehith Reddy</a:t>
            </a:r>
          </a:p>
        </p:txBody>
      </p:sp>
      <p:sp>
        <p:nvSpPr>
          <p:cNvPr id="2053" name="Rectangle 5">
            <a:extLst>
              <a:ext uri="{FF2B5EF4-FFF2-40B4-BE49-F238E27FC236}">
                <a16:creationId xmlns:a16="http://schemas.microsoft.com/office/drawing/2014/main" id="{9C46CD2A-EA48-0949-4F6E-6BFC5F785A43}"/>
              </a:ext>
            </a:extLst>
          </p:cNvPr>
          <p:cNvSpPr>
            <a:spLocks noGrp="1" noChangeArrowheads="1"/>
          </p:cNvSpPr>
          <p:nvPr>
            <p:ph type="ctrTitle"/>
          </p:nvPr>
        </p:nvSpPr>
        <p:spPr>
          <a:xfrm>
            <a:off x="0" y="2924944"/>
            <a:ext cx="8153400" cy="704850"/>
          </a:xfrm>
          <a:extLst>
            <a:ext uri="{AF507438-7753-43E0-B8FC-AC1667EBCBE1}">
              <a14:hiddenEffects xmlns:a14="http://schemas.microsoft.com/office/drawing/2010/main">
                <a:effectLst>
                  <a:outerShdw dist="17961" dir="2700000" algn="ctr" rotWithShape="0">
                    <a:schemeClr val="bg2"/>
                  </a:outerShdw>
                </a:effectLst>
              </a14:hiddenEffects>
            </a:ext>
          </a:extLst>
        </p:spPr>
        <p:txBody>
          <a:bodyPr/>
          <a:lstStyle/>
          <a:p>
            <a:r>
              <a:rPr lang="en-IN" altLang="en-US" dirty="0"/>
              <a:t>Title: </a:t>
            </a:r>
            <a:r>
              <a:rPr lang="en-US" altLang="en-US" dirty="0" err="1"/>
              <a:t>CircuitGuard</a:t>
            </a:r>
            <a:r>
              <a:rPr lang="en-US" altLang="en-US" dirty="0"/>
              <a:t>-PCB Defect Detection and</a:t>
            </a:r>
            <a:br>
              <a:rPr lang="en-US" altLang="en-US" dirty="0"/>
            </a:br>
            <a:r>
              <a:rPr lang="en-US" altLang="en-US" dirty="0"/>
              <a:t>Classification Application</a:t>
            </a:r>
            <a:endParaRPr lang="en-I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3" name="Rectangle 5">
            <a:extLst>
              <a:ext uri="{FF2B5EF4-FFF2-40B4-BE49-F238E27FC236}">
                <a16:creationId xmlns:a16="http://schemas.microsoft.com/office/drawing/2014/main" id="{1D5E9D58-2171-4265-5A7D-B60B3B6862DA}"/>
              </a:ext>
            </a:extLst>
          </p:cNvPr>
          <p:cNvSpPr>
            <a:spLocks noGrp="1" noChangeArrowheads="1"/>
          </p:cNvSpPr>
          <p:nvPr>
            <p:ph type="title"/>
          </p:nvPr>
        </p:nvSpPr>
        <p:spPr>
          <a:xfrm>
            <a:off x="85724" y="808038"/>
            <a:ext cx="8950771" cy="460722"/>
          </a:xfrm>
        </p:spPr>
        <p:txBody>
          <a:bodyPr/>
          <a:lstStyle/>
          <a:p>
            <a:r>
              <a:rPr lang="en-IN" sz="3200" b="1" dirty="0"/>
              <a:t>1. ABSTRACT</a:t>
            </a:r>
          </a:p>
        </p:txBody>
      </p:sp>
      <p:sp>
        <p:nvSpPr>
          <p:cNvPr id="17415" name="Rectangle 7">
            <a:extLst>
              <a:ext uri="{FF2B5EF4-FFF2-40B4-BE49-F238E27FC236}">
                <a16:creationId xmlns:a16="http://schemas.microsoft.com/office/drawing/2014/main" id="{11270DBF-2DD8-F813-A4F9-A29B6E603078}"/>
              </a:ext>
            </a:extLst>
          </p:cNvPr>
          <p:cNvSpPr>
            <a:spLocks noGrp="1" noChangeArrowheads="1"/>
          </p:cNvSpPr>
          <p:nvPr>
            <p:ph type="body" idx="1"/>
          </p:nvPr>
        </p:nvSpPr>
        <p:spPr>
          <a:xfrm>
            <a:off x="287524" y="1412776"/>
            <a:ext cx="8568952" cy="5184576"/>
          </a:xfrm>
        </p:spPr>
        <p:txBody>
          <a:bodyPr/>
          <a:lstStyle/>
          <a:p>
            <a:pPr algn="just">
              <a:buFont typeface="Wingdings" panose="05000000000000000000" pitchFamily="2" charset="2"/>
              <a:buChar char="Ø"/>
            </a:pPr>
            <a:r>
              <a:rPr lang="en-IN" sz="1800" b="1" dirty="0"/>
              <a:t>Problem Statement</a:t>
            </a:r>
          </a:p>
          <a:p>
            <a:pPr algn="just"/>
            <a:r>
              <a:rPr lang="en-US" sz="1400" dirty="0"/>
              <a:t>Manual PCB inspection is time-consuming, error-prone, and inconsistent</a:t>
            </a:r>
          </a:p>
          <a:p>
            <a:pPr algn="just"/>
            <a:r>
              <a:rPr lang="en-US" sz="1400" dirty="0"/>
              <a:t>Critical defects (open circuits, shorts, mouse bites) compromise reliability</a:t>
            </a:r>
          </a:p>
          <a:p>
            <a:pPr algn="just"/>
            <a:r>
              <a:rPr lang="en-US" sz="1400" dirty="0"/>
              <a:t>Need for automated quality control system in manufacturing</a:t>
            </a:r>
          </a:p>
          <a:p>
            <a:pPr algn="just">
              <a:lnSpc>
                <a:spcPct val="80000"/>
              </a:lnSpc>
            </a:pPr>
            <a:endParaRPr lang="en-IN" sz="1800" b="1" dirty="0"/>
          </a:p>
          <a:p>
            <a:pPr algn="just">
              <a:lnSpc>
                <a:spcPct val="80000"/>
              </a:lnSpc>
              <a:buFont typeface="Wingdings" panose="05000000000000000000" pitchFamily="2" charset="2"/>
              <a:buChar char="Ø"/>
            </a:pPr>
            <a:r>
              <a:rPr lang="en-IN" sz="1800" b="1" dirty="0"/>
              <a:t>Proposed Solution</a:t>
            </a:r>
          </a:p>
          <a:p>
            <a:pPr algn="just"/>
            <a:r>
              <a:rPr lang="en-US" sz="1400" b="1" dirty="0"/>
              <a:t>Deep Learning-based</a:t>
            </a:r>
            <a:r>
              <a:rPr lang="en-US" sz="1400" dirty="0"/>
              <a:t> automated defect detection using EfficientNet-B4</a:t>
            </a:r>
          </a:p>
          <a:p>
            <a:pPr algn="just"/>
            <a:r>
              <a:rPr lang="en-US" sz="1400" b="1" dirty="0"/>
              <a:t>Computer Vision pipeline</a:t>
            </a:r>
            <a:r>
              <a:rPr lang="en-US" sz="1400" dirty="0"/>
              <a:t> with reference-based image comparison</a:t>
            </a:r>
          </a:p>
          <a:p>
            <a:pPr algn="just"/>
            <a:r>
              <a:rPr lang="en-US" sz="1400" b="1" dirty="0"/>
              <a:t>Web application</a:t>
            </a:r>
            <a:r>
              <a:rPr lang="en-US" sz="1400" dirty="0"/>
              <a:t> for real-time processing and visualization</a:t>
            </a:r>
          </a:p>
          <a:p>
            <a:pPr algn="just"/>
            <a:r>
              <a:rPr lang="en-US" sz="1400" b="1" dirty="0"/>
              <a:t>Modular design</a:t>
            </a:r>
            <a:r>
              <a:rPr lang="en-US" sz="1400" dirty="0"/>
              <a:t> covering preprocessing, detection, classification, and export</a:t>
            </a:r>
          </a:p>
          <a:p>
            <a:pPr algn="just">
              <a:lnSpc>
                <a:spcPct val="80000"/>
              </a:lnSpc>
              <a:buFont typeface="Arial" panose="020B0604020202020204" pitchFamily="34" charset="0"/>
              <a:buChar char="•"/>
            </a:pPr>
            <a:endParaRPr lang="en-IN" sz="1400" b="1" dirty="0"/>
          </a:p>
          <a:p>
            <a:pPr algn="just">
              <a:buFont typeface="Wingdings" panose="05000000000000000000" pitchFamily="2" charset="2"/>
              <a:buChar char="Ø"/>
            </a:pPr>
            <a:r>
              <a:rPr lang="en-IN" sz="1800" b="1" dirty="0"/>
              <a:t>System Modules</a:t>
            </a:r>
          </a:p>
          <a:p>
            <a:pPr algn="just"/>
            <a:r>
              <a:rPr lang="en-IN" sz="1400" b="1" dirty="0"/>
              <a:t>Dataset Processing</a:t>
            </a:r>
            <a:r>
              <a:rPr lang="en-IN" sz="1400" dirty="0"/>
              <a:t> - Image alignment &amp; subtraction</a:t>
            </a:r>
          </a:p>
          <a:p>
            <a:pPr algn="just"/>
            <a:r>
              <a:rPr lang="en-IN" sz="1400" b="1" dirty="0"/>
              <a:t>ROI Extraction</a:t>
            </a:r>
            <a:r>
              <a:rPr lang="en-IN" sz="1400" dirty="0"/>
              <a:t> - Contour detection &amp; bounding boxes</a:t>
            </a:r>
          </a:p>
          <a:p>
            <a:pPr algn="just"/>
            <a:r>
              <a:rPr lang="en-IN" sz="1400" b="1" dirty="0"/>
              <a:t>Model Training</a:t>
            </a:r>
            <a:r>
              <a:rPr lang="en-IN" sz="1400" dirty="0"/>
              <a:t> - EfficientNet-B4 with </a:t>
            </a:r>
            <a:r>
              <a:rPr lang="en-IN" sz="1400" dirty="0" err="1"/>
              <a:t>PyTorch</a:t>
            </a:r>
            <a:endParaRPr lang="en-IN" sz="1400" dirty="0"/>
          </a:p>
          <a:p>
            <a:pPr algn="just"/>
            <a:r>
              <a:rPr lang="en-IN" sz="1400" b="1" dirty="0"/>
              <a:t>Evaluation</a:t>
            </a:r>
            <a:r>
              <a:rPr lang="en-IN" sz="1400" dirty="0"/>
              <a:t> - Performance testing &amp; validation</a:t>
            </a:r>
          </a:p>
          <a:p>
            <a:pPr algn="just"/>
            <a:r>
              <a:rPr lang="en-IN" sz="1400" b="1" dirty="0"/>
              <a:t>Web UI</a:t>
            </a:r>
            <a:r>
              <a:rPr lang="en-IN" sz="1400" dirty="0"/>
              <a:t> - </a:t>
            </a:r>
            <a:r>
              <a:rPr lang="en-IN" sz="1400" dirty="0" err="1"/>
              <a:t>Streamlit</a:t>
            </a:r>
            <a:r>
              <a:rPr lang="en-IN" sz="1400" dirty="0"/>
              <a:t> interface for image upload</a:t>
            </a:r>
          </a:p>
          <a:p>
            <a:pPr algn="just"/>
            <a:r>
              <a:rPr lang="en-IN" sz="1400" b="1" dirty="0"/>
              <a:t>Backend Pipeline</a:t>
            </a:r>
            <a:r>
              <a:rPr lang="en-IN" sz="1400" dirty="0"/>
              <a:t> - Inference &amp; processing engine</a:t>
            </a:r>
          </a:p>
          <a:p>
            <a:pPr algn="just"/>
            <a:r>
              <a:rPr lang="en-IN" sz="1400" b="1" dirty="0"/>
              <a:t>Export System</a:t>
            </a:r>
            <a:r>
              <a:rPr lang="en-IN" sz="1400" dirty="0"/>
              <a:t> - Results download &amp; logging</a:t>
            </a:r>
          </a:p>
          <a:p>
            <a:pPr>
              <a:lnSpc>
                <a:spcPct val="80000"/>
              </a:lnSpc>
              <a:buFont typeface="Wingdings" panose="05000000000000000000" pitchFamily="2" charset="2"/>
              <a:buChar char="Ø"/>
            </a:pPr>
            <a:endParaRPr lang="en-IN" sz="1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81A12-7FB3-83D2-5D10-1C13B7D2D16A}"/>
              </a:ext>
            </a:extLst>
          </p:cNvPr>
          <p:cNvSpPr>
            <a:spLocks noGrp="1"/>
          </p:cNvSpPr>
          <p:nvPr>
            <p:ph type="title"/>
          </p:nvPr>
        </p:nvSpPr>
        <p:spPr>
          <a:xfrm>
            <a:off x="107504" y="808038"/>
            <a:ext cx="8686800" cy="461665"/>
          </a:xfrm>
        </p:spPr>
        <p:txBody>
          <a:bodyPr/>
          <a:lstStyle/>
          <a:p>
            <a:r>
              <a:rPr lang="en-IN" sz="3200" b="1" dirty="0"/>
              <a:t>2. Introduction</a:t>
            </a:r>
          </a:p>
        </p:txBody>
      </p:sp>
      <p:sp>
        <p:nvSpPr>
          <p:cNvPr id="3" name="TextBox 2">
            <a:extLst>
              <a:ext uri="{FF2B5EF4-FFF2-40B4-BE49-F238E27FC236}">
                <a16:creationId xmlns:a16="http://schemas.microsoft.com/office/drawing/2014/main" id="{45562E2D-87A5-1F33-F1EF-8F0EDEACF83C}"/>
              </a:ext>
            </a:extLst>
          </p:cNvPr>
          <p:cNvSpPr txBox="1"/>
          <p:nvPr/>
        </p:nvSpPr>
        <p:spPr>
          <a:xfrm>
            <a:off x="228600" y="1412776"/>
            <a:ext cx="8735888" cy="4616648"/>
          </a:xfrm>
          <a:prstGeom prst="rect">
            <a:avLst/>
          </a:prstGeom>
          <a:noFill/>
        </p:spPr>
        <p:txBody>
          <a:bodyPr wrap="square" rtlCol="0">
            <a:spAutoFit/>
          </a:bodyPr>
          <a:lstStyle/>
          <a:p>
            <a:pPr marL="285750" indent="-285750" algn="just">
              <a:buFont typeface="Arial" panose="020B0604020202020204" pitchFamily="34" charset="0"/>
              <a:buChar char="•"/>
            </a:pPr>
            <a:r>
              <a:rPr lang="en-US" sz="1400" dirty="0">
                <a:solidFill>
                  <a:schemeClr val="bg1"/>
                </a:solidFill>
              </a:rPr>
              <a:t>Printed Circuit Boards (PCBs) are the backbone of almost every electronic device we use today—from smartphones and laptops to medical equipment and automobiles. These familiar green boards with their intricate copper traces function as the nervous system of electronics, linking components so they can work together seamlessly. But as technology becomes smaller and more advanced, manufacturing flawless PCBs has grown increasingly difficult. Even the slightest error can cause a device to malfunction or fail in critical ways.</a:t>
            </a:r>
          </a:p>
          <a:p>
            <a:pPr marL="285750" indent="-285750" algn="just">
              <a:buFont typeface="Arial" panose="020B0604020202020204" pitchFamily="34" charset="0"/>
              <a:buChar char="•"/>
            </a:pPr>
            <a:endParaRPr lang="en-US" sz="1400" dirty="0">
              <a:solidFill>
                <a:schemeClr val="bg1"/>
              </a:solidFill>
            </a:endParaRPr>
          </a:p>
          <a:p>
            <a:pPr marL="285750" indent="-285750" algn="just">
              <a:buFont typeface="Arial" panose="020B0604020202020204" pitchFamily="34" charset="0"/>
              <a:buChar char="•"/>
            </a:pPr>
            <a:r>
              <a:rPr lang="en-US" sz="1400" dirty="0">
                <a:solidFill>
                  <a:schemeClr val="bg1"/>
                </a:solidFill>
              </a:rPr>
              <a:t>There are countless opportunities for defects during production: chemicals may not etch copper correctly, drills can deviate by fractions of a millimeter, or unwanted copper might remain behind—all of which can compromise the board. Traditionally, factories have relied on human inspectors to examine PCBs under magnifiers and identify issues. This process is slow, tedious, and inconsistent. Fatigue, differences in judgment, and human error mean that inspecting a single board can take 5–10 minutes, making manual inspection impractical when thousands of boards are produced each day.</a:t>
            </a:r>
          </a:p>
          <a:p>
            <a:pPr marL="285750" indent="-285750" algn="just">
              <a:buFont typeface="Arial" panose="020B0604020202020204" pitchFamily="34" charset="0"/>
              <a:buChar char="•"/>
            </a:pPr>
            <a:endParaRPr lang="en-US" sz="1400" dirty="0">
              <a:solidFill>
                <a:schemeClr val="bg1"/>
              </a:solidFill>
            </a:endParaRPr>
          </a:p>
          <a:p>
            <a:pPr marL="285750" indent="-285750" algn="just">
              <a:buFont typeface="Arial" panose="020B0604020202020204" pitchFamily="34" charset="0"/>
              <a:buChar char="•"/>
            </a:pPr>
            <a:r>
              <a:rPr lang="en-US" sz="1400" dirty="0">
                <a:solidFill>
                  <a:schemeClr val="bg1"/>
                </a:solidFill>
              </a:rPr>
              <a:t>This project solves the problem by creating an automated system capable of inspecting PCBs with speed and precision—essentially a tireless, super-focused digital inspector. Powered by advanced imaging and artificial intelligence, our system detects defects in mere seconds with over 97% accuracy. This enables manufacturers to catch issues early, reduce material waste, and ensure every device leaving the factory meets the highest quality standards.</a:t>
            </a:r>
          </a:p>
          <a:p>
            <a:pPr algn="just"/>
            <a:br>
              <a:rPr lang="en-US" sz="1400" dirty="0">
                <a:solidFill>
                  <a:schemeClr val="bg1"/>
                </a:solidFill>
              </a:rPr>
            </a:br>
            <a:endParaRPr lang="en-IN" sz="1400" dirty="0">
              <a:solidFill>
                <a:schemeClr val="bg1"/>
              </a:solidFill>
            </a:endParaRPr>
          </a:p>
        </p:txBody>
      </p:sp>
    </p:spTree>
    <p:extLst>
      <p:ext uri="{BB962C8B-B14F-4D97-AF65-F5344CB8AC3E}">
        <p14:creationId xmlns:p14="http://schemas.microsoft.com/office/powerpoint/2010/main" val="2551192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0BA53-9C25-C903-5FCD-652AB844E98D}"/>
              </a:ext>
            </a:extLst>
          </p:cNvPr>
          <p:cNvSpPr>
            <a:spLocks noGrp="1"/>
          </p:cNvSpPr>
          <p:nvPr>
            <p:ph type="title"/>
          </p:nvPr>
        </p:nvSpPr>
        <p:spPr>
          <a:xfrm>
            <a:off x="19066" y="836712"/>
            <a:ext cx="5328591" cy="504056"/>
          </a:xfrm>
        </p:spPr>
        <p:txBody>
          <a:bodyPr/>
          <a:lstStyle/>
          <a:p>
            <a:r>
              <a:rPr lang="en-IN" b="1" dirty="0"/>
              <a:t>3. System Workflow</a:t>
            </a:r>
          </a:p>
        </p:txBody>
      </p:sp>
      <p:sp>
        <p:nvSpPr>
          <p:cNvPr id="4" name="Text Placeholder 3">
            <a:extLst>
              <a:ext uri="{FF2B5EF4-FFF2-40B4-BE49-F238E27FC236}">
                <a16:creationId xmlns:a16="http://schemas.microsoft.com/office/drawing/2014/main" id="{2101772B-E5B4-1C5B-3286-826418395998}"/>
              </a:ext>
            </a:extLst>
          </p:cNvPr>
          <p:cNvSpPr>
            <a:spLocks noGrp="1"/>
          </p:cNvSpPr>
          <p:nvPr>
            <p:ph type="body" sz="half" idx="2"/>
          </p:nvPr>
        </p:nvSpPr>
        <p:spPr>
          <a:xfrm>
            <a:off x="251520" y="1340768"/>
            <a:ext cx="5817146" cy="5428320"/>
          </a:xfrm>
        </p:spPr>
        <p:txBody>
          <a:bodyPr/>
          <a:lstStyle/>
          <a:p>
            <a:pPr algn="just">
              <a:buNone/>
            </a:pPr>
            <a:r>
              <a:rPr lang="en-US" sz="1400" dirty="0"/>
              <a:t>The system follows a structured pipeline to detect and classify PCB defects efficiently and accurately. The overall workflow is outlined below:</a:t>
            </a:r>
          </a:p>
          <a:p>
            <a:pPr algn="just">
              <a:buNone/>
            </a:pPr>
            <a:endParaRPr lang="en-US" sz="1400" dirty="0"/>
          </a:p>
          <a:p>
            <a:pPr marL="285750" indent="-285750" algn="just">
              <a:buFont typeface="Wingdings" panose="05000000000000000000" pitchFamily="2" charset="2"/>
              <a:buChar char="Ø"/>
            </a:pPr>
            <a:r>
              <a:rPr lang="en-US" sz="1400" b="1" dirty="0"/>
              <a:t>Upload</a:t>
            </a:r>
          </a:p>
          <a:p>
            <a:pPr marL="285750" indent="-285750" algn="just">
              <a:buFont typeface="Arial" panose="020B0604020202020204" pitchFamily="34" charset="0"/>
              <a:buChar char="•"/>
            </a:pPr>
            <a:r>
              <a:rPr lang="en-US" sz="1400" dirty="0"/>
              <a:t>Load the test PCB image and its defect-free template.</a:t>
            </a:r>
          </a:p>
          <a:p>
            <a:pPr marL="285750" indent="-285750" algn="just">
              <a:buFont typeface="Wingdings" panose="05000000000000000000" pitchFamily="2" charset="2"/>
              <a:buChar char="Ø"/>
            </a:pPr>
            <a:r>
              <a:rPr lang="en-US" sz="1400" b="1" dirty="0"/>
              <a:t>Template Match &amp; Alignment</a:t>
            </a:r>
          </a:p>
          <a:p>
            <a:pPr marL="285750" indent="-285750" algn="just">
              <a:buFont typeface="Arial" panose="020B0604020202020204" pitchFamily="34" charset="0"/>
              <a:buChar char="•"/>
            </a:pPr>
            <a:r>
              <a:rPr lang="en-US" sz="1400" dirty="0"/>
              <a:t>Align both images to ensure accurate comparison.</a:t>
            </a:r>
          </a:p>
          <a:p>
            <a:pPr marL="285750" indent="-285750" algn="just">
              <a:buFont typeface="Wingdings" panose="05000000000000000000" pitchFamily="2" charset="2"/>
              <a:buChar char="Ø"/>
            </a:pPr>
            <a:r>
              <a:rPr lang="en-US" sz="1400" b="1" dirty="0"/>
              <a:t>Difference Map</a:t>
            </a:r>
          </a:p>
          <a:p>
            <a:pPr marL="285750" indent="-285750" algn="just">
              <a:buFont typeface="Arial" panose="020B0604020202020204" pitchFamily="34" charset="0"/>
              <a:buChar char="•"/>
            </a:pPr>
            <a:r>
              <a:rPr lang="en-US" sz="1400" dirty="0"/>
              <a:t> Apply image subtraction and Otsu thresholding to highlight differences.</a:t>
            </a:r>
          </a:p>
          <a:p>
            <a:pPr marL="285750" indent="-285750" algn="just">
              <a:buFont typeface="Wingdings" panose="05000000000000000000" pitchFamily="2" charset="2"/>
              <a:buChar char="Ø"/>
            </a:pPr>
            <a:r>
              <a:rPr lang="en-US" sz="1400" b="1" dirty="0"/>
              <a:t>Defect Mask</a:t>
            </a:r>
          </a:p>
          <a:p>
            <a:pPr marL="285750" indent="-285750" algn="just">
              <a:buFont typeface="Arial" panose="020B0604020202020204" pitchFamily="34" charset="0"/>
              <a:buChar char="•"/>
            </a:pPr>
            <a:r>
              <a:rPr lang="en-US" sz="1400" dirty="0"/>
              <a:t>Use erosion, dilation, and contour extraction to isolate defect regions.</a:t>
            </a:r>
          </a:p>
          <a:p>
            <a:pPr marL="285750" indent="-285750" algn="just">
              <a:buFont typeface="Wingdings" panose="05000000000000000000" pitchFamily="2" charset="2"/>
              <a:buChar char="Ø"/>
            </a:pPr>
            <a:r>
              <a:rPr lang="en-US" sz="1400" b="1" dirty="0"/>
              <a:t>ROI Extraction</a:t>
            </a:r>
          </a:p>
          <a:p>
            <a:pPr marL="285750" indent="-285750" algn="just">
              <a:buFont typeface="Arial" panose="020B0604020202020204" pitchFamily="34" charset="0"/>
              <a:buChar char="•"/>
            </a:pPr>
            <a:r>
              <a:rPr lang="en-US" sz="1400" dirty="0"/>
              <a:t>Crop detected defect areas for analysis.</a:t>
            </a:r>
          </a:p>
          <a:p>
            <a:pPr marL="285750" indent="-285750" algn="just">
              <a:buFont typeface="Wingdings" panose="05000000000000000000" pitchFamily="2" charset="2"/>
              <a:buChar char="Ø"/>
            </a:pPr>
            <a:r>
              <a:rPr lang="en-US" sz="1400" b="1" dirty="0"/>
              <a:t>Classification</a:t>
            </a:r>
          </a:p>
          <a:p>
            <a:pPr marL="285750" indent="-285750" algn="just">
              <a:buFont typeface="Arial" panose="020B0604020202020204" pitchFamily="34" charset="0"/>
              <a:buChar char="•"/>
            </a:pPr>
            <a:r>
              <a:rPr lang="en-US" sz="1400" dirty="0"/>
              <a:t>Classify each defect using a model trained on the </a:t>
            </a:r>
            <a:r>
              <a:rPr lang="en-US" sz="1400" dirty="0" err="1"/>
              <a:t>DeepPCB</a:t>
            </a:r>
            <a:r>
              <a:rPr lang="en-US" sz="1400" dirty="0"/>
              <a:t> dataset.</a:t>
            </a:r>
          </a:p>
          <a:p>
            <a:pPr marL="285750" indent="-285750" algn="just">
              <a:buFont typeface="Wingdings" panose="05000000000000000000" pitchFamily="2" charset="2"/>
              <a:buChar char="Ø"/>
            </a:pPr>
            <a:r>
              <a:rPr lang="en-US" sz="1400" b="1" dirty="0"/>
              <a:t>Visualization &amp; Export</a:t>
            </a:r>
          </a:p>
          <a:p>
            <a:pPr marL="285750" indent="-285750" algn="just">
              <a:buFont typeface="Arial" panose="020B0604020202020204" pitchFamily="34" charset="0"/>
              <a:buChar char="•"/>
            </a:pPr>
            <a:r>
              <a:rPr lang="en-US" sz="1400" dirty="0"/>
              <a:t>Display defects on the UI and export the final report.</a:t>
            </a:r>
            <a:endParaRPr lang="en-IN" sz="1400" dirty="0"/>
          </a:p>
        </p:txBody>
      </p:sp>
      <p:pic>
        <p:nvPicPr>
          <p:cNvPr id="13" name="Content Placeholder 12">
            <a:extLst>
              <a:ext uri="{FF2B5EF4-FFF2-40B4-BE49-F238E27FC236}">
                <a16:creationId xmlns:a16="http://schemas.microsoft.com/office/drawing/2014/main" id="{ECB48D94-47D3-30B2-50A5-2FCE17A3130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28184" y="1196752"/>
            <a:ext cx="2755568" cy="5328592"/>
          </a:xfrm>
        </p:spPr>
      </p:pic>
    </p:spTree>
    <p:extLst>
      <p:ext uri="{BB962C8B-B14F-4D97-AF65-F5344CB8AC3E}">
        <p14:creationId xmlns:p14="http://schemas.microsoft.com/office/powerpoint/2010/main" val="3243699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5C6E2-35F9-1C60-B9D5-AF8EC75C2142}"/>
              </a:ext>
            </a:extLst>
          </p:cNvPr>
          <p:cNvSpPr>
            <a:spLocks noGrp="1"/>
          </p:cNvSpPr>
          <p:nvPr>
            <p:ph type="title"/>
          </p:nvPr>
        </p:nvSpPr>
        <p:spPr>
          <a:xfrm>
            <a:off x="33671" y="880046"/>
            <a:ext cx="8686800" cy="388714"/>
          </a:xfrm>
        </p:spPr>
        <p:txBody>
          <a:bodyPr/>
          <a:lstStyle/>
          <a:p>
            <a:r>
              <a:rPr lang="en-IN" sz="3200" dirty="0"/>
              <a:t>4. Method and Results</a:t>
            </a:r>
          </a:p>
        </p:txBody>
      </p:sp>
      <p:sp>
        <p:nvSpPr>
          <p:cNvPr id="3" name="Content Placeholder 2">
            <a:extLst>
              <a:ext uri="{FF2B5EF4-FFF2-40B4-BE49-F238E27FC236}">
                <a16:creationId xmlns:a16="http://schemas.microsoft.com/office/drawing/2014/main" id="{D9CFE454-3FEA-F559-1E56-655F48519738}"/>
              </a:ext>
            </a:extLst>
          </p:cNvPr>
          <p:cNvSpPr>
            <a:spLocks noGrp="1"/>
          </p:cNvSpPr>
          <p:nvPr>
            <p:ph idx="1"/>
          </p:nvPr>
        </p:nvSpPr>
        <p:spPr>
          <a:xfrm>
            <a:off x="228600" y="1268760"/>
            <a:ext cx="8686800" cy="5589240"/>
          </a:xfrm>
        </p:spPr>
        <p:txBody>
          <a:bodyPr/>
          <a:lstStyle/>
          <a:p>
            <a:pPr algn="just">
              <a:buNone/>
            </a:pPr>
            <a:r>
              <a:rPr lang="en-US" sz="2000" b="1" dirty="0"/>
              <a:t>4.1 Module 1 — Dataset Setup &amp; Image Subtraction</a:t>
            </a:r>
          </a:p>
          <a:p>
            <a:pPr algn="just">
              <a:buNone/>
            </a:pPr>
            <a:r>
              <a:rPr lang="en-US" sz="1600" b="1" dirty="0"/>
              <a:t>1. Dataset Preparation</a:t>
            </a:r>
            <a:endParaRPr lang="en-US" sz="1600" dirty="0"/>
          </a:p>
          <a:p>
            <a:pPr algn="just">
              <a:buFont typeface="Arial" panose="020B0604020202020204" pitchFamily="34" charset="0"/>
              <a:buChar char="•"/>
            </a:pPr>
            <a:r>
              <a:rPr lang="en-US" sz="1400" dirty="0"/>
              <a:t>Two primary folders are used:</a:t>
            </a:r>
          </a:p>
          <a:p>
            <a:pPr marL="857250" lvl="1" indent="-400050" algn="just">
              <a:buFont typeface="+mj-lt"/>
              <a:buAutoNum type="romanLcPeriod"/>
            </a:pPr>
            <a:r>
              <a:rPr lang="en-US" sz="1400" b="1" dirty="0"/>
              <a:t>PCB_USED</a:t>
            </a:r>
            <a:r>
              <a:rPr lang="en-US" sz="1400" dirty="0"/>
              <a:t> → defect-free template images</a:t>
            </a:r>
          </a:p>
          <a:p>
            <a:pPr marL="857250" lvl="1" indent="-400050" algn="just">
              <a:buFont typeface="+mj-lt"/>
              <a:buAutoNum type="romanLcPeriod"/>
            </a:pPr>
            <a:r>
              <a:rPr lang="en-US" sz="1400" b="1" dirty="0"/>
              <a:t>images/</a:t>
            </a:r>
            <a:r>
              <a:rPr lang="en-US" sz="1400" dirty="0"/>
              <a:t> → defective PCB images categorized by defect type</a:t>
            </a:r>
          </a:p>
          <a:p>
            <a:pPr algn="just">
              <a:buFont typeface="Arial" panose="020B0604020202020204" pitchFamily="34" charset="0"/>
              <a:buChar char="•"/>
            </a:pPr>
            <a:r>
              <a:rPr lang="en-US" sz="1400" dirty="0"/>
              <a:t>Each test image is paired with the correct template by matching the first two digits of the filename.</a:t>
            </a:r>
          </a:p>
          <a:p>
            <a:pPr algn="just">
              <a:buNone/>
            </a:pPr>
            <a:r>
              <a:rPr lang="en-US" sz="1600" b="1" dirty="0"/>
              <a:t>2. Image Alignment</a:t>
            </a:r>
            <a:endParaRPr lang="en-US" sz="1600" dirty="0"/>
          </a:p>
          <a:p>
            <a:pPr algn="just">
              <a:buFont typeface="Arial" panose="020B0604020202020204" pitchFamily="34" charset="0"/>
              <a:buChar char="•"/>
            </a:pPr>
            <a:r>
              <a:rPr lang="en-US" sz="1400" dirty="0" err="1"/>
              <a:t>Keypoints</a:t>
            </a:r>
            <a:r>
              <a:rPr lang="en-US" sz="1400" dirty="0"/>
              <a:t> are detected in both the template and test images using ORB.</a:t>
            </a:r>
          </a:p>
          <a:p>
            <a:pPr algn="just">
              <a:buFont typeface="Arial" panose="020B0604020202020204" pitchFamily="34" charset="0"/>
              <a:buChar char="•"/>
            </a:pPr>
            <a:r>
              <a:rPr lang="en-US" sz="1400" dirty="0"/>
              <a:t>A </a:t>
            </a:r>
            <a:r>
              <a:rPr lang="en-US" sz="1400" dirty="0" err="1"/>
              <a:t>homography</a:t>
            </a:r>
            <a:r>
              <a:rPr lang="en-US" sz="1400" dirty="0"/>
              <a:t> (</a:t>
            </a:r>
            <a:r>
              <a:rPr lang="en-US" sz="1400" b="1" dirty="0"/>
              <a:t>RANSAC</a:t>
            </a:r>
            <a:r>
              <a:rPr lang="en-US" sz="1400" dirty="0"/>
              <a:t>) aligns the test image to the template.</a:t>
            </a:r>
          </a:p>
          <a:p>
            <a:pPr algn="just">
              <a:buFont typeface="Arial" panose="020B0604020202020204" pitchFamily="34" charset="0"/>
              <a:buChar char="•"/>
            </a:pPr>
            <a:r>
              <a:rPr lang="en-US" sz="1400" dirty="0"/>
              <a:t>This makes sure both images line up correctly before comparison.</a:t>
            </a:r>
          </a:p>
          <a:p>
            <a:pPr marL="0" indent="0" algn="just">
              <a:buNone/>
            </a:pPr>
            <a:r>
              <a:rPr lang="en-US" sz="1600" b="1" dirty="0"/>
              <a:t>3. Image Subtraction &amp; Thresholding</a:t>
            </a:r>
            <a:endParaRPr lang="en-US" sz="1600" dirty="0"/>
          </a:p>
          <a:p>
            <a:pPr algn="just">
              <a:buFont typeface="Arial" panose="020B0604020202020204" pitchFamily="34" charset="0"/>
              <a:buChar char="•"/>
            </a:pPr>
            <a:r>
              <a:rPr lang="en-US" sz="1400" dirty="0"/>
              <a:t>The aligned image is subtracted from the template to highlight differences.</a:t>
            </a:r>
          </a:p>
          <a:p>
            <a:pPr algn="just">
              <a:buFont typeface="Arial" panose="020B0604020202020204" pitchFamily="34" charset="0"/>
              <a:buChar char="•"/>
            </a:pPr>
            <a:r>
              <a:rPr lang="en-US" sz="1400" dirty="0"/>
              <a:t>Otsu’s thresholding turns these differences into a clear binary mask.</a:t>
            </a:r>
          </a:p>
          <a:p>
            <a:pPr algn="just">
              <a:buFont typeface="Arial" panose="020B0604020202020204" pitchFamily="34" charset="0"/>
              <a:buChar char="•"/>
            </a:pPr>
            <a:r>
              <a:rPr lang="en-US" sz="1400" dirty="0"/>
              <a:t>Erosion and dilation are applied to clean the mask and remove noise.</a:t>
            </a:r>
          </a:p>
          <a:p>
            <a:pPr marL="0" indent="0" algn="just">
              <a:buNone/>
            </a:pPr>
            <a:r>
              <a:rPr lang="en-IN" sz="1600" b="1" dirty="0"/>
              <a:t>4. Output Results</a:t>
            </a:r>
          </a:p>
        </p:txBody>
      </p:sp>
      <p:pic>
        <p:nvPicPr>
          <p:cNvPr id="4" name="Picture 3">
            <a:extLst>
              <a:ext uri="{FF2B5EF4-FFF2-40B4-BE49-F238E27FC236}">
                <a16:creationId xmlns:a16="http://schemas.microsoft.com/office/drawing/2014/main" id="{73BA6ADA-F0A9-8196-3590-2B869FD510BF}"/>
              </a:ext>
            </a:extLst>
          </p:cNvPr>
          <p:cNvPicPr>
            <a:picLocks noChangeAspect="1"/>
          </p:cNvPicPr>
          <p:nvPr/>
        </p:nvPicPr>
        <p:blipFill>
          <a:blip r:embed="rId2"/>
          <a:stretch>
            <a:fillRect/>
          </a:stretch>
        </p:blipFill>
        <p:spPr>
          <a:xfrm>
            <a:off x="107504" y="5481228"/>
            <a:ext cx="8928992" cy="1224136"/>
          </a:xfrm>
          <a:prstGeom prst="rect">
            <a:avLst/>
          </a:prstGeom>
        </p:spPr>
      </p:pic>
    </p:spTree>
    <p:extLst>
      <p:ext uri="{BB962C8B-B14F-4D97-AF65-F5344CB8AC3E}">
        <p14:creationId xmlns:p14="http://schemas.microsoft.com/office/powerpoint/2010/main" val="48815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FA5E34-E368-51C9-A4C1-8E1A40DE9A37}"/>
              </a:ext>
            </a:extLst>
          </p:cNvPr>
          <p:cNvPicPr>
            <a:picLocks noGrp="1" noChangeAspect="1"/>
          </p:cNvPicPr>
          <p:nvPr>
            <p:ph idx="1"/>
          </p:nvPr>
        </p:nvPicPr>
        <p:blipFill>
          <a:blip r:embed="rId2"/>
          <a:stretch>
            <a:fillRect/>
          </a:stretch>
        </p:blipFill>
        <p:spPr>
          <a:xfrm>
            <a:off x="7164288" y="980728"/>
            <a:ext cx="1800199" cy="5760640"/>
          </a:xfrm>
          <a:prstGeom prst="rect">
            <a:avLst/>
          </a:prstGeom>
        </p:spPr>
      </p:pic>
      <p:sp>
        <p:nvSpPr>
          <p:cNvPr id="4" name="Text Placeholder 3">
            <a:extLst>
              <a:ext uri="{FF2B5EF4-FFF2-40B4-BE49-F238E27FC236}">
                <a16:creationId xmlns:a16="http://schemas.microsoft.com/office/drawing/2014/main" id="{C82389C1-4030-1F1E-0D8F-95EEE6AA5469}"/>
              </a:ext>
            </a:extLst>
          </p:cNvPr>
          <p:cNvSpPr>
            <a:spLocks noGrp="1"/>
          </p:cNvSpPr>
          <p:nvPr>
            <p:ph type="body" sz="half" idx="2"/>
          </p:nvPr>
        </p:nvSpPr>
        <p:spPr>
          <a:xfrm>
            <a:off x="179514" y="836712"/>
            <a:ext cx="6912766" cy="5904656"/>
          </a:xfrm>
        </p:spPr>
        <p:txBody>
          <a:bodyPr/>
          <a:lstStyle/>
          <a:p>
            <a:r>
              <a:rPr lang="en-US" sz="2000" b="1" dirty="0"/>
              <a:t>4.2 Module 2 — Contour Detection &amp; ROI Extraction</a:t>
            </a:r>
          </a:p>
          <a:p>
            <a:r>
              <a:rPr lang="en-US" b="1" dirty="0"/>
              <a:t>1. Contour Detection</a:t>
            </a:r>
            <a:endParaRPr lang="en-US" dirty="0"/>
          </a:p>
          <a:p>
            <a:pPr marL="285750" indent="-285750" algn="just">
              <a:buFont typeface="Arial" panose="020B0604020202020204" pitchFamily="34" charset="0"/>
              <a:buChar char="•"/>
            </a:pPr>
            <a:r>
              <a:rPr lang="en-US" sz="1400" dirty="0"/>
              <a:t>The binary masks from Module 1 are loaded.</a:t>
            </a:r>
          </a:p>
          <a:p>
            <a:pPr marL="285750" indent="-285750" algn="just">
              <a:buFont typeface="Arial" panose="020B0604020202020204" pitchFamily="34" charset="0"/>
              <a:buChar char="•"/>
            </a:pPr>
            <a:r>
              <a:rPr lang="en-US" sz="1400" dirty="0"/>
              <a:t>External contours are detected to locate defect regions.</a:t>
            </a:r>
          </a:p>
          <a:p>
            <a:pPr marL="285750" indent="-285750" algn="just">
              <a:buFont typeface="Arial" panose="020B0604020202020204" pitchFamily="34" charset="0"/>
              <a:buChar char="•"/>
            </a:pPr>
            <a:r>
              <a:rPr lang="en-US" sz="1400" dirty="0"/>
              <a:t>Very small contours are removed to avoid noise.</a:t>
            </a:r>
          </a:p>
          <a:p>
            <a:r>
              <a:rPr lang="en-US" b="1" dirty="0"/>
              <a:t>2. Bounding Box Extraction</a:t>
            </a:r>
            <a:endParaRPr lang="en-US" dirty="0"/>
          </a:p>
          <a:p>
            <a:pPr marL="285750" indent="-285750" algn="just">
              <a:buFont typeface="Arial" panose="020B0604020202020204" pitchFamily="34" charset="0"/>
              <a:buChar char="•"/>
            </a:pPr>
            <a:r>
              <a:rPr lang="en-US" sz="1400" dirty="0"/>
              <a:t>For each valid contour, a bounding box is drawn around the defect area.</a:t>
            </a:r>
          </a:p>
          <a:p>
            <a:pPr marL="285750" indent="-285750" algn="just">
              <a:buFont typeface="Arial" panose="020B0604020202020204" pitchFamily="34" charset="0"/>
              <a:buChar char="•"/>
            </a:pPr>
            <a:r>
              <a:rPr lang="en-US" sz="1400" dirty="0"/>
              <a:t>Padding is added so the ROI includes some surrounding PCB context.</a:t>
            </a:r>
          </a:p>
          <a:p>
            <a:r>
              <a:rPr lang="en-US" b="1" dirty="0"/>
              <a:t>3. ROI Cropping &amp; Resizing</a:t>
            </a:r>
            <a:endParaRPr lang="en-US" dirty="0"/>
          </a:p>
          <a:p>
            <a:pPr marL="285750" indent="-285750" algn="just">
              <a:buFont typeface="Arial" panose="020B0604020202020204" pitchFamily="34" charset="0"/>
              <a:buChar char="•"/>
            </a:pPr>
            <a:r>
              <a:rPr lang="en-US" sz="1400" dirty="0"/>
              <a:t>Each defect region is cropped from the original PCB image.</a:t>
            </a:r>
          </a:p>
          <a:p>
            <a:pPr marL="285750" indent="-285750" algn="just">
              <a:buFont typeface="Arial" panose="020B0604020202020204" pitchFamily="34" charset="0"/>
              <a:buChar char="•"/>
            </a:pPr>
            <a:r>
              <a:rPr lang="en-US" sz="1400" dirty="0"/>
              <a:t>ROIs are resized to </a:t>
            </a:r>
            <a:r>
              <a:rPr lang="en-US" sz="1400" b="1" dirty="0"/>
              <a:t>128×128</a:t>
            </a:r>
            <a:r>
              <a:rPr lang="en-US" sz="1400" dirty="0"/>
              <a:t> to prepare them for classification models.</a:t>
            </a:r>
          </a:p>
          <a:p>
            <a:pPr marL="285750" indent="-285750" algn="just">
              <a:buFont typeface="Arial" panose="020B0604020202020204" pitchFamily="34" charset="0"/>
              <a:buChar char="•"/>
            </a:pPr>
            <a:r>
              <a:rPr lang="en-US" sz="1400" dirty="0"/>
              <a:t>ROIs are saved into folders arranged by defect type.</a:t>
            </a:r>
          </a:p>
          <a:p>
            <a:r>
              <a:rPr lang="en-US" b="1" dirty="0"/>
              <a:t>4. Visualization Output</a:t>
            </a:r>
            <a:endParaRPr lang="en-US" dirty="0"/>
          </a:p>
          <a:p>
            <a:pPr marL="285750" indent="-285750">
              <a:buFont typeface="Arial" panose="020B0604020202020204" pitchFamily="34" charset="0"/>
              <a:buChar char="•"/>
            </a:pPr>
            <a:r>
              <a:rPr lang="en-US" sz="1400" dirty="0"/>
              <a:t>A sample visualization </a:t>
            </a:r>
            <a:br>
              <a:rPr lang="en-US" sz="1400" dirty="0"/>
            </a:br>
            <a:r>
              <a:rPr lang="en-US" sz="1400" dirty="0"/>
              <a:t>shows bounding boxes</a:t>
            </a:r>
            <a:br>
              <a:rPr lang="en-US" sz="1400" dirty="0"/>
            </a:br>
            <a:r>
              <a:rPr lang="en-US" sz="1400" dirty="0"/>
              <a:t>drawn on original image.</a:t>
            </a:r>
          </a:p>
        </p:txBody>
      </p:sp>
      <p:pic>
        <p:nvPicPr>
          <p:cNvPr id="8" name="Picture 7">
            <a:extLst>
              <a:ext uri="{FF2B5EF4-FFF2-40B4-BE49-F238E27FC236}">
                <a16:creationId xmlns:a16="http://schemas.microsoft.com/office/drawing/2014/main" id="{A2DE1C79-71F1-C1A3-A40C-494D3AEB7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4365104"/>
            <a:ext cx="4344618" cy="2376264"/>
          </a:xfrm>
          <a:prstGeom prst="rect">
            <a:avLst/>
          </a:prstGeom>
        </p:spPr>
      </p:pic>
    </p:spTree>
    <p:extLst>
      <p:ext uri="{BB962C8B-B14F-4D97-AF65-F5344CB8AC3E}">
        <p14:creationId xmlns:p14="http://schemas.microsoft.com/office/powerpoint/2010/main" val="1418670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AC762E-CBC5-27D5-D852-D3519E610715}"/>
              </a:ext>
            </a:extLst>
          </p:cNvPr>
          <p:cNvSpPr txBox="1"/>
          <p:nvPr/>
        </p:nvSpPr>
        <p:spPr>
          <a:xfrm>
            <a:off x="143508" y="836712"/>
            <a:ext cx="8856984" cy="3939540"/>
          </a:xfrm>
          <a:prstGeom prst="rect">
            <a:avLst/>
          </a:prstGeom>
          <a:noFill/>
        </p:spPr>
        <p:txBody>
          <a:bodyPr wrap="square" rtlCol="0">
            <a:spAutoFit/>
          </a:bodyPr>
          <a:lstStyle/>
          <a:p>
            <a:pPr algn="just"/>
            <a:r>
              <a:rPr lang="en-US" sz="2000" b="1" dirty="0">
                <a:solidFill>
                  <a:schemeClr val="bg1"/>
                </a:solidFill>
              </a:rPr>
              <a:t>4.3 Module 3 — </a:t>
            </a:r>
            <a:r>
              <a:rPr lang="en-US" sz="2000" b="1" dirty="0" err="1">
                <a:solidFill>
                  <a:schemeClr val="bg1"/>
                </a:solidFill>
              </a:rPr>
              <a:t>EfficientNet</a:t>
            </a:r>
            <a:r>
              <a:rPr lang="en-US" sz="2000" b="1" dirty="0">
                <a:solidFill>
                  <a:schemeClr val="bg1"/>
                </a:solidFill>
              </a:rPr>
              <a:t> Model Training</a:t>
            </a:r>
          </a:p>
          <a:p>
            <a:pPr algn="just"/>
            <a:r>
              <a:rPr lang="en-US" sz="1600" b="1" dirty="0">
                <a:solidFill>
                  <a:schemeClr val="bg1"/>
                </a:solidFill>
              </a:rPr>
              <a:t>1. Preprocessing</a:t>
            </a:r>
            <a:endParaRPr lang="en-US" sz="1600" dirty="0">
              <a:solidFill>
                <a:schemeClr val="bg1"/>
              </a:solidFill>
            </a:endParaRPr>
          </a:p>
          <a:p>
            <a:pPr marL="285750" indent="-285750" algn="just">
              <a:buFont typeface="Arial" panose="020B0604020202020204" pitchFamily="34" charset="0"/>
              <a:buChar char="•"/>
            </a:pPr>
            <a:r>
              <a:rPr lang="en-US" sz="1400" dirty="0">
                <a:solidFill>
                  <a:schemeClr val="bg1"/>
                </a:solidFill>
              </a:rPr>
              <a:t>ROIs extracted from Module 2 are organized by defect type.</a:t>
            </a:r>
          </a:p>
          <a:p>
            <a:pPr marL="285750" indent="-285750" algn="just">
              <a:buFont typeface="Arial" panose="020B0604020202020204" pitchFamily="34" charset="0"/>
              <a:buChar char="•"/>
            </a:pPr>
            <a:r>
              <a:rPr lang="en-US" sz="1400" dirty="0">
                <a:solidFill>
                  <a:schemeClr val="bg1"/>
                </a:solidFill>
              </a:rPr>
              <a:t>Images are resized to 128×128 and normalized.</a:t>
            </a:r>
          </a:p>
          <a:p>
            <a:pPr marL="285750" indent="-285750" algn="just">
              <a:buFont typeface="Arial" panose="020B0604020202020204" pitchFamily="34" charset="0"/>
              <a:buChar char="•"/>
            </a:pPr>
            <a:r>
              <a:rPr lang="en-US" sz="1400" dirty="0">
                <a:solidFill>
                  <a:schemeClr val="bg1"/>
                </a:solidFill>
              </a:rPr>
              <a:t>Data augmentation (rotation, flips, color jitter) is applied to improve generalization.</a:t>
            </a:r>
          </a:p>
          <a:p>
            <a:pPr marL="285750" indent="-285750" algn="just">
              <a:buFont typeface="Arial" panose="020B0604020202020204" pitchFamily="34" charset="0"/>
              <a:buChar char="•"/>
            </a:pPr>
            <a:r>
              <a:rPr lang="en-US" sz="1400" dirty="0">
                <a:solidFill>
                  <a:schemeClr val="bg1"/>
                </a:solidFill>
              </a:rPr>
              <a:t>The dataset is split into 80% train, 10% validation, and 10% test.</a:t>
            </a:r>
          </a:p>
          <a:p>
            <a:pPr algn="just"/>
            <a:r>
              <a:rPr lang="en-US" sz="1600" b="1" dirty="0">
                <a:solidFill>
                  <a:schemeClr val="bg1"/>
                </a:solidFill>
              </a:rPr>
              <a:t>2. Model Setup &amp; Training</a:t>
            </a:r>
            <a:endParaRPr lang="en-US" sz="1600" dirty="0">
              <a:solidFill>
                <a:schemeClr val="bg1"/>
              </a:solidFill>
            </a:endParaRPr>
          </a:p>
          <a:p>
            <a:pPr marL="285750" indent="-285750" algn="just">
              <a:buFont typeface="Arial" panose="020B0604020202020204" pitchFamily="34" charset="0"/>
              <a:buChar char="•"/>
            </a:pPr>
            <a:r>
              <a:rPr lang="en-US" sz="1400" dirty="0">
                <a:solidFill>
                  <a:schemeClr val="bg1"/>
                </a:solidFill>
              </a:rPr>
              <a:t>EfficientNet-B4 is loaded with pretrained weights.</a:t>
            </a:r>
          </a:p>
          <a:p>
            <a:pPr marL="285750" indent="-285750" algn="just">
              <a:buFont typeface="Arial" panose="020B0604020202020204" pitchFamily="34" charset="0"/>
              <a:buChar char="•"/>
            </a:pPr>
            <a:r>
              <a:rPr lang="en-US" sz="1400" dirty="0">
                <a:solidFill>
                  <a:schemeClr val="bg1"/>
                </a:solidFill>
              </a:rPr>
              <a:t>The final classifier layer is replaced to match the number of PCB defect classes.</a:t>
            </a:r>
          </a:p>
          <a:p>
            <a:pPr marL="285750" indent="-285750" algn="just">
              <a:buFont typeface="Arial" panose="020B0604020202020204" pitchFamily="34" charset="0"/>
              <a:buChar char="•"/>
            </a:pPr>
            <a:r>
              <a:rPr lang="en-US" sz="1400" dirty="0">
                <a:solidFill>
                  <a:schemeClr val="bg1"/>
                </a:solidFill>
              </a:rPr>
              <a:t>Adam optimizer and cross-entropy loss are used for training.</a:t>
            </a:r>
          </a:p>
          <a:p>
            <a:pPr marL="285750" indent="-285750" algn="just">
              <a:buFont typeface="Arial" panose="020B0604020202020204" pitchFamily="34" charset="0"/>
              <a:buChar char="•"/>
            </a:pPr>
            <a:r>
              <a:rPr lang="en-US" sz="1400" dirty="0">
                <a:solidFill>
                  <a:schemeClr val="bg1"/>
                </a:solidFill>
              </a:rPr>
              <a:t>The best model is saved based on highest validation accuracy.</a:t>
            </a:r>
          </a:p>
          <a:p>
            <a:pPr algn="just"/>
            <a:r>
              <a:rPr lang="en-US" sz="1600" b="1" dirty="0">
                <a:solidFill>
                  <a:schemeClr val="bg1"/>
                </a:solidFill>
              </a:rPr>
              <a:t>3. Results &amp; Evaluation</a:t>
            </a:r>
            <a:endParaRPr lang="en-US" sz="1600" dirty="0">
              <a:solidFill>
                <a:schemeClr val="bg1"/>
              </a:solidFill>
            </a:endParaRPr>
          </a:p>
          <a:p>
            <a:pPr marL="285750" indent="-285750" algn="just">
              <a:buFont typeface="Arial" panose="020B0604020202020204" pitchFamily="34" charset="0"/>
              <a:buChar char="•"/>
            </a:pPr>
            <a:r>
              <a:rPr lang="en-US" sz="1400" dirty="0">
                <a:solidFill>
                  <a:schemeClr val="bg1"/>
                </a:solidFill>
              </a:rPr>
              <a:t>Training and validation loss curves are generated to show learning stability.</a:t>
            </a:r>
          </a:p>
          <a:p>
            <a:pPr marL="285750" indent="-285750" algn="just">
              <a:buFont typeface="Arial" panose="020B0604020202020204" pitchFamily="34" charset="0"/>
              <a:buChar char="•"/>
            </a:pPr>
            <a:r>
              <a:rPr lang="en-US" sz="1400" dirty="0">
                <a:solidFill>
                  <a:schemeClr val="bg1"/>
                </a:solidFill>
              </a:rPr>
              <a:t>Final test accuracy is computed on the unseen test set.</a:t>
            </a:r>
          </a:p>
          <a:p>
            <a:pPr marL="285750" indent="-285750" algn="just">
              <a:buFont typeface="Arial" panose="020B0604020202020204" pitchFamily="34" charset="0"/>
              <a:buChar char="•"/>
            </a:pPr>
            <a:r>
              <a:rPr lang="en-US" sz="1400" dirty="0">
                <a:solidFill>
                  <a:schemeClr val="bg1"/>
                </a:solidFill>
              </a:rPr>
              <a:t>A confusion matrix visualizes class-wise performance.</a:t>
            </a:r>
          </a:p>
          <a:p>
            <a:pPr marL="285750" indent="-285750" algn="just">
              <a:buFont typeface="Arial" panose="020B0604020202020204" pitchFamily="34" charset="0"/>
              <a:buChar char="•"/>
            </a:pPr>
            <a:r>
              <a:rPr lang="en-US" sz="1400" dirty="0">
                <a:solidFill>
                  <a:schemeClr val="bg1"/>
                </a:solidFill>
              </a:rPr>
              <a:t>A full classification report (precision, recall, F1-score) summarizes model quality.</a:t>
            </a:r>
          </a:p>
          <a:p>
            <a:pPr algn="just"/>
            <a:endParaRPr lang="en-US" sz="1400" dirty="0">
              <a:solidFill>
                <a:schemeClr val="bg1"/>
              </a:solidFill>
            </a:endParaRPr>
          </a:p>
        </p:txBody>
      </p:sp>
      <p:graphicFrame>
        <p:nvGraphicFramePr>
          <p:cNvPr id="3" name="Table 2">
            <a:extLst>
              <a:ext uri="{FF2B5EF4-FFF2-40B4-BE49-F238E27FC236}">
                <a16:creationId xmlns:a16="http://schemas.microsoft.com/office/drawing/2014/main" id="{54489A08-A28D-F80D-E337-D76FB0E8C30D}"/>
              </a:ext>
            </a:extLst>
          </p:cNvPr>
          <p:cNvGraphicFramePr>
            <a:graphicFrameLocks noGrp="1"/>
          </p:cNvGraphicFramePr>
          <p:nvPr>
            <p:extLst>
              <p:ext uri="{D42A27DB-BD31-4B8C-83A1-F6EECF244321}">
                <p14:modId xmlns:p14="http://schemas.microsoft.com/office/powerpoint/2010/main" val="1634003159"/>
              </p:ext>
            </p:extLst>
          </p:nvPr>
        </p:nvGraphicFramePr>
        <p:xfrm>
          <a:off x="4355976" y="4560808"/>
          <a:ext cx="4536503" cy="2194560"/>
        </p:xfrm>
        <a:graphic>
          <a:graphicData uri="http://schemas.openxmlformats.org/drawingml/2006/table">
            <a:tbl>
              <a:tblPr firstRow="1" bandRow="1">
                <a:tableStyleId>{93296810-A885-4BE3-A3E7-6D5BEEA58F35}</a:tableStyleId>
              </a:tblPr>
              <a:tblGrid>
                <a:gridCol w="1460025">
                  <a:extLst>
                    <a:ext uri="{9D8B030D-6E8A-4147-A177-3AD203B41FA5}">
                      <a16:colId xmlns:a16="http://schemas.microsoft.com/office/drawing/2014/main" val="6810611"/>
                    </a:ext>
                  </a:extLst>
                </a:gridCol>
                <a:gridCol w="834299">
                  <a:extLst>
                    <a:ext uri="{9D8B030D-6E8A-4147-A177-3AD203B41FA5}">
                      <a16:colId xmlns:a16="http://schemas.microsoft.com/office/drawing/2014/main" val="3518558872"/>
                    </a:ext>
                  </a:extLst>
                </a:gridCol>
                <a:gridCol w="625725">
                  <a:extLst>
                    <a:ext uri="{9D8B030D-6E8A-4147-A177-3AD203B41FA5}">
                      <a16:colId xmlns:a16="http://schemas.microsoft.com/office/drawing/2014/main" val="3284037058"/>
                    </a:ext>
                  </a:extLst>
                </a:gridCol>
                <a:gridCol w="782155">
                  <a:extLst>
                    <a:ext uri="{9D8B030D-6E8A-4147-A177-3AD203B41FA5}">
                      <a16:colId xmlns:a16="http://schemas.microsoft.com/office/drawing/2014/main" val="232494742"/>
                    </a:ext>
                  </a:extLst>
                </a:gridCol>
                <a:gridCol w="834299">
                  <a:extLst>
                    <a:ext uri="{9D8B030D-6E8A-4147-A177-3AD203B41FA5}">
                      <a16:colId xmlns:a16="http://schemas.microsoft.com/office/drawing/2014/main" val="1524576598"/>
                    </a:ext>
                  </a:extLst>
                </a:gridCol>
              </a:tblGrid>
              <a:tr h="237358">
                <a:tc>
                  <a:txBody>
                    <a:bodyPr/>
                    <a:lstStyle/>
                    <a:p>
                      <a:endParaRPr lang="en-IN" sz="1200" dirty="0"/>
                    </a:p>
                  </a:txBody>
                  <a:tcPr/>
                </a:tc>
                <a:tc>
                  <a:txBody>
                    <a:bodyPr/>
                    <a:lstStyle/>
                    <a:p>
                      <a:r>
                        <a:rPr lang="en-IN" sz="1200" dirty="0"/>
                        <a:t>precision</a:t>
                      </a:r>
                    </a:p>
                  </a:txBody>
                  <a:tcPr/>
                </a:tc>
                <a:tc>
                  <a:txBody>
                    <a:bodyPr/>
                    <a:lstStyle/>
                    <a:p>
                      <a:r>
                        <a:rPr lang="en-IN" sz="1200" dirty="0"/>
                        <a:t>recall</a:t>
                      </a:r>
                    </a:p>
                  </a:txBody>
                  <a:tcPr/>
                </a:tc>
                <a:tc>
                  <a:txBody>
                    <a:bodyPr/>
                    <a:lstStyle/>
                    <a:p>
                      <a:r>
                        <a:rPr lang="en-IN" sz="1200" dirty="0"/>
                        <a:t>f1-score</a:t>
                      </a:r>
                    </a:p>
                  </a:txBody>
                  <a:tcPr/>
                </a:tc>
                <a:tc>
                  <a:txBody>
                    <a:bodyPr/>
                    <a:lstStyle/>
                    <a:p>
                      <a:r>
                        <a:rPr lang="en-IN" sz="1200" dirty="0"/>
                        <a:t>support</a:t>
                      </a:r>
                    </a:p>
                  </a:txBody>
                  <a:tcPr/>
                </a:tc>
                <a:extLst>
                  <a:ext uri="{0D108BD9-81ED-4DB2-BD59-A6C34878D82A}">
                    <a16:rowId xmlns:a16="http://schemas.microsoft.com/office/drawing/2014/main" val="3098288641"/>
                  </a:ext>
                </a:extLst>
              </a:tr>
              <a:tr h="237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err="1">
                          <a:solidFill>
                            <a:schemeClr val="dk1"/>
                          </a:solidFill>
                          <a:effectLst/>
                          <a:latin typeface="+mn-lt"/>
                          <a:ea typeface="+mn-ea"/>
                          <a:cs typeface="+mn-cs"/>
                        </a:rPr>
                        <a:t>Missing_hole</a:t>
                      </a:r>
                      <a:endParaRPr lang="en-IN" sz="1200" b="0" i="0" kern="1200" dirty="0">
                        <a:solidFill>
                          <a:schemeClr val="dk1"/>
                        </a:solidFill>
                        <a:effectLst/>
                        <a:latin typeface="+mn-lt"/>
                        <a:ea typeface="+mn-ea"/>
                        <a:cs typeface="+mn-cs"/>
                      </a:endParaRPr>
                    </a:p>
                  </a:txBody>
                  <a:tcPr/>
                </a:tc>
                <a:tc>
                  <a:txBody>
                    <a:bodyPr/>
                    <a:lstStyle/>
                    <a:p>
                      <a:pPr algn="ctr"/>
                      <a:r>
                        <a:rPr lang="en-IN" sz="1200" dirty="0"/>
                        <a:t>1.00</a:t>
                      </a:r>
                    </a:p>
                  </a:txBody>
                  <a:tcPr/>
                </a:tc>
                <a:tc>
                  <a:txBody>
                    <a:bodyPr/>
                    <a:lstStyle/>
                    <a:p>
                      <a:pPr algn="ctr"/>
                      <a:r>
                        <a:rPr lang="en-IN" sz="1200" dirty="0"/>
                        <a:t>1.00</a:t>
                      </a:r>
                    </a:p>
                  </a:txBody>
                  <a:tcPr/>
                </a:tc>
                <a:tc>
                  <a:txBody>
                    <a:bodyPr/>
                    <a:lstStyle/>
                    <a:p>
                      <a:pPr algn="ctr"/>
                      <a:r>
                        <a:rPr lang="en-IN" sz="1200" dirty="0"/>
                        <a:t>1.00</a:t>
                      </a:r>
                    </a:p>
                  </a:txBody>
                  <a:tcPr/>
                </a:tc>
                <a:tc>
                  <a:txBody>
                    <a:bodyPr/>
                    <a:lstStyle/>
                    <a:p>
                      <a:pPr algn="ctr"/>
                      <a:r>
                        <a:rPr lang="en-IN" sz="1200" dirty="0"/>
                        <a:t>49</a:t>
                      </a:r>
                    </a:p>
                  </a:txBody>
                  <a:tcPr/>
                </a:tc>
                <a:extLst>
                  <a:ext uri="{0D108BD9-81ED-4DB2-BD59-A6C34878D82A}">
                    <a16:rowId xmlns:a16="http://schemas.microsoft.com/office/drawing/2014/main" val="2956711250"/>
                  </a:ext>
                </a:extLst>
              </a:tr>
              <a:tr h="237358">
                <a:tc>
                  <a:txBody>
                    <a:bodyPr/>
                    <a:lstStyle/>
                    <a:p>
                      <a:r>
                        <a:rPr lang="en-IN" sz="1200" dirty="0" err="1"/>
                        <a:t>Mouse_bite</a:t>
                      </a:r>
                      <a:endParaRPr lang="en-IN" sz="1200" dirty="0"/>
                    </a:p>
                  </a:txBody>
                  <a:tcPr/>
                </a:tc>
                <a:tc>
                  <a:txBody>
                    <a:bodyPr/>
                    <a:lstStyle/>
                    <a:p>
                      <a:pPr algn="ctr"/>
                      <a:r>
                        <a:rPr lang="en-IN" sz="1200" dirty="0"/>
                        <a:t>0.98</a:t>
                      </a:r>
                    </a:p>
                  </a:txBody>
                  <a:tcPr/>
                </a:tc>
                <a:tc>
                  <a:txBody>
                    <a:bodyPr/>
                    <a:lstStyle/>
                    <a:p>
                      <a:pPr algn="ctr"/>
                      <a:r>
                        <a:rPr lang="en-IN" sz="1200" dirty="0"/>
                        <a:t>0.96</a:t>
                      </a:r>
                    </a:p>
                  </a:txBody>
                  <a:tcPr/>
                </a:tc>
                <a:tc>
                  <a:txBody>
                    <a:bodyPr/>
                    <a:lstStyle/>
                    <a:p>
                      <a:pPr algn="ctr"/>
                      <a:r>
                        <a:rPr lang="en-IN" sz="1200" dirty="0"/>
                        <a:t>0.97</a:t>
                      </a:r>
                    </a:p>
                  </a:txBody>
                  <a:tcPr/>
                </a:tc>
                <a:tc>
                  <a:txBody>
                    <a:bodyPr/>
                    <a:lstStyle/>
                    <a:p>
                      <a:pPr algn="ctr"/>
                      <a:r>
                        <a:rPr lang="en-IN" sz="1200" dirty="0"/>
                        <a:t>50</a:t>
                      </a:r>
                    </a:p>
                  </a:txBody>
                  <a:tcPr/>
                </a:tc>
                <a:extLst>
                  <a:ext uri="{0D108BD9-81ED-4DB2-BD59-A6C34878D82A}">
                    <a16:rowId xmlns:a16="http://schemas.microsoft.com/office/drawing/2014/main" val="2566418234"/>
                  </a:ext>
                </a:extLst>
              </a:tr>
              <a:tr h="237358">
                <a:tc>
                  <a:txBody>
                    <a:bodyPr/>
                    <a:lstStyle/>
                    <a:p>
                      <a:r>
                        <a:rPr lang="en-IN" sz="1200" dirty="0" err="1"/>
                        <a:t>Open_circuit</a:t>
                      </a:r>
                      <a:endParaRPr lang="en-IN" sz="1200" dirty="0"/>
                    </a:p>
                  </a:txBody>
                  <a:tcPr/>
                </a:tc>
                <a:tc>
                  <a:txBody>
                    <a:bodyPr/>
                    <a:lstStyle/>
                    <a:p>
                      <a:pPr algn="ctr"/>
                      <a:r>
                        <a:rPr lang="en-IN" sz="1200" dirty="0"/>
                        <a:t>1.00</a:t>
                      </a:r>
                    </a:p>
                  </a:txBody>
                  <a:tcPr/>
                </a:tc>
                <a:tc>
                  <a:txBody>
                    <a:bodyPr/>
                    <a:lstStyle/>
                    <a:p>
                      <a:pPr algn="ctr"/>
                      <a:r>
                        <a:rPr lang="en-IN" sz="1200" dirty="0"/>
                        <a:t>0.98</a:t>
                      </a:r>
                    </a:p>
                  </a:txBody>
                  <a:tcPr/>
                </a:tc>
                <a:tc>
                  <a:txBody>
                    <a:bodyPr/>
                    <a:lstStyle/>
                    <a:p>
                      <a:pPr algn="ctr"/>
                      <a:r>
                        <a:rPr lang="en-IN" sz="1200" dirty="0"/>
                        <a:t>0.99    </a:t>
                      </a:r>
                    </a:p>
                  </a:txBody>
                  <a:tcPr/>
                </a:tc>
                <a:tc>
                  <a:txBody>
                    <a:bodyPr/>
                    <a:lstStyle/>
                    <a:p>
                      <a:pPr algn="ctr"/>
                      <a:r>
                        <a:rPr lang="en-IN" sz="1200" dirty="0"/>
                        <a:t>49</a:t>
                      </a:r>
                    </a:p>
                  </a:txBody>
                  <a:tcPr/>
                </a:tc>
                <a:extLst>
                  <a:ext uri="{0D108BD9-81ED-4DB2-BD59-A6C34878D82A}">
                    <a16:rowId xmlns:a16="http://schemas.microsoft.com/office/drawing/2014/main" val="2143899896"/>
                  </a:ext>
                </a:extLst>
              </a:tr>
              <a:tr h="237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dk1"/>
                          </a:solidFill>
                          <a:effectLst/>
                          <a:latin typeface="+mn-lt"/>
                          <a:ea typeface="+mn-ea"/>
                          <a:cs typeface="+mn-cs"/>
                        </a:rPr>
                        <a:t>Short</a:t>
                      </a:r>
                    </a:p>
                  </a:txBody>
                  <a:tcPr/>
                </a:tc>
                <a:tc>
                  <a:txBody>
                    <a:bodyPr/>
                    <a:lstStyle/>
                    <a:p>
                      <a:pPr algn="ctr"/>
                      <a:r>
                        <a:rPr lang="en-IN" sz="1200" dirty="0"/>
                        <a:t>0.98</a:t>
                      </a:r>
                    </a:p>
                  </a:txBody>
                  <a:tcPr/>
                </a:tc>
                <a:tc>
                  <a:txBody>
                    <a:bodyPr/>
                    <a:lstStyle/>
                    <a:p>
                      <a:pPr algn="ctr"/>
                      <a:r>
                        <a:rPr lang="en-IN" sz="1200" dirty="0"/>
                        <a:t>0.97</a:t>
                      </a:r>
                    </a:p>
                  </a:txBody>
                  <a:tcPr/>
                </a:tc>
                <a:tc>
                  <a:txBody>
                    <a:bodyPr/>
                    <a:lstStyle/>
                    <a:p>
                      <a:pPr algn="ctr"/>
                      <a:r>
                        <a:rPr lang="en-IN" sz="1200" dirty="0"/>
                        <a:t>0.98</a:t>
                      </a:r>
                    </a:p>
                  </a:txBody>
                  <a:tcPr/>
                </a:tc>
                <a:tc>
                  <a:txBody>
                    <a:bodyPr/>
                    <a:lstStyle/>
                    <a:p>
                      <a:pPr algn="ctr"/>
                      <a:r>
                        <a:rPr lang="en-IN" sz="1200" dirty="0"/>
                        <a:t>64</a:t>
                      </a:r>
                    </a:p>
                  </a:txBody>
                  <a:tcPr/>
                </a:tc>
                <a:extLst>
                  <a:ext uri="{0D108BD9-81ED-4DB2-BD59-A6C34878D82A}">
                    <a16:rowId xmlns:a16="http://schemas.microsoft.com/office/drawing/2014/main" val="1284813898"/>
                  </a:ext>
                </a:extLst>
              </a:tr>
              <a:tr h="1847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dk1"/>
                          </a:solidFill>
                          <a:effectLst/>
                          <a:latin typeface="+mn-lt"/>
                          <a:ea typeface="+mn-ea"/>
                          <a:cs typeface="+mn-cs"/>
                        </a:rPr>
                        <a:t>Spur</a:t>
                      </a:r>
                    </a:p>
                  </a:txBody>
                  <a:tcPr/>
                </a:tc>
                <a:tc>
                  <a:txBody>
                    <a:bodyPr/>
                    <a:lstStyle/>
                    <a:p>
                      <a:pPr algn="ctr"/>
                      <a:r>
                        <a:rPr lang="en-IN" sz="1200" dirty="0"/>
                        <a:t>0.88</a:t>
                      </a:r>
                    </a:p>
                  </a:txBody>
                  <a:tcPr/>
                </a:tc>
                <a:tc>
                  <a:txBody>
                    <a:bodyPr/>
                    <a:lstStyle/>
                    <a:p>
                      <a:pPr algn="ctr"/>
                      <a:r>
                        <a:rPr lang="en-IN" sz="1200" dirty="0"/>
                        <a:t>0.98</a:t>
                      </a:r>
                    </a:p>
                  </a:txBody>
                  <a:tcPr/>
                </a:tc>
                <a:tc>
                  <a:txBody>
                    <a:bodyPr/>
                    <a:lstStyle/>
                    <a:p>
                      <a:pPr algn="ctr"/>
                      <a:r>
                        <a:rPr lang="en-IN" sz="1200" dirty="0"/>
                        <a:t>0.93</a:t>
                      </a:r>
                    </a:p>
                  </a:txBody>
                  <a:tcPr/>
                </a:tc>
                <a:tc>
                  <a:txBody>
                    <a:bodyPr/>
                    <a:lstStyle/>
                    <a:p>
                      <a:pPr algn="ctr"/>
                      <a:r>
                        <a:rPr lang="en-IN" sz="1200" dirty="0"/>
                        <a:t>54</a:t>
                      </a:r>
                    </a:p>
                  </a:txBody>
                  <a:tcPr/>
                </a:tc>
                <a:extLst>
                  <a:ext uri="{0D108BD9-81ED-4DB2-BD59-A6C34878D82A}">
                    <a16:rowId xmlns:a16="http://schemas.microsoft.com/office/drawing/2014/main" val="292840907"/>
                  </a:ext>
                </a:extLst>
              </a:tr>
              <a:tr h="237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err="1">
                          <a:solidFill>
                            <a:schemeClr val="dk1"/>
                          </a:solidFill>
                          <a:effectLst/>
                          <a:latin typeface="+mn-lt"/>
                          <a:ea typeface="+mn-ea"/>
                          <a:cs typeface="+mn-cs"/>
                        </a:rPr>
                        <a:t>Spurious_copper</a:t>
                      </a:r>
                      <a:r>
                        <a:rPr lang="en-IN" sz="1200" b="0" i="0" kern="1200" dirty="0">
                          <a:solidFill>
                            <a:schemeClr val="dk1"/>
                          </a:solidFill>
                          <a:effectLst/>
                          <a:latin typeface="+mn-lt"/>
                          <a:ea typeface="+mn-ea"/>
                          <a:cs typeface="+mn-cs"/>
                        </a:rPr>
                        <a:t> </a:t>
                      </a:r>
                    </a:p>
                  </a:txBody>
                  <a:tcPr/>
                </a:tc>
                <a:tc>
                  <a:txBody>
                    <a:bodyPr/>
                    <a:lstStyle/>
                    <a:p>
                      <a:pPr algn="ctr" latinLnBrk="1">
                        <a:buNone/>
                      </a:pPr>
                      <a:r>
                        <a:rPr lang="en-IN" sz="1200" b="0" i="0" dirty="0">
                          <a:effectLst/>
                          <a:latin typeface="+mj-lt"/>
                        </a:rPr>
                        <a:t>1.00</a:t>
                      </a:r>
                    </a:p>
                  </a:txBody>
                  <a:tcPr/>
                </a:tc>
                <a:tc>
                  <a:txBody>
                    <a:bodyPr/>
                    <a:lstStyle/>
                    <a:p>
                      <a:pPr algn="ctr" latinLnBrk="1">
                        <a:buNone/>
                      </a:pPr>
                      <a:r>
                        <a:rPr lang="en-IN" sz="1200" b="0" i="0" dirty="0">
                          <a:effectLst/>
                          <a:latin typeface="+mj-lt"/>
                        </a:rPr>
                        <a:t>0.95</a:t>
                      </a:r>
                    </a:p>
                  </a:txBody>
                  <a:tcPr/>
                </a:tc>
                <a:tc>
                  <a:txBody>
                    <a:bodyPr/>
                    <a:lstStyle/>
                    <a:p>
                      <a:pPr algn="ctr" latinLnBrk="1">
                        <a:buNone/>
                      </a:pPr>
                      <a:r>
                        <a:rPr lang="en-IN" sz="1200" b="0" i="0" dirty="0">
                          <a:effectLst/>
                          <a:latin typeface="+mj-lt"/>
                        </a:rPr>
                        <a:t>0.97</a:t>
                      </a:r>
                    </a:p>
                  </a:txBody>
                  <a:tcPr/>
                </a:tc>
                <a:tc>
                  <a:txBody>
                    <a:bodyPr/>
                    <a:lstStyle/>
                    <a:p>
                      <a:pPr algn="ctr" latinLnBrk="1">
                        <a:buNone/>
                      </a:pPr>
                      <a:r>
                        <a:rPr lang="en-IN" sz="1200" b="0" i="0" dirty="0">
                          <a:effectLst/>
                          <a:latin typeface="+mj-lt"/>
                        </a:rPr>
                        <a:t>55</a:t>
                      </a:r>
                    </a:p>
                  </a:txBody>
                  <a:tcPr/>
                </a:tc>
                <a:extLst>
                  <a:ext uri="{0D108BD9-81ED-4DB2-BD59-A6C34878D82A}">
                    <a16:rowId xmlns:a16="http://schemas.microsoft.com/office/drawing/2014/main" val="457722626"/>
                  </a:ext>
                </a:extLst>
              </a:tr>
              <a:tr h="2373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0" i="0" kern="1200" dirty="0">
                          <a:solidFill>
                            <a:schemeClr val="dk1"/>
                          </a:solidFill>
                          <a:effectLst/>
                          <a:latin typeface="+mn-lt"/>
                          <a:ea typeface="+mn-ea"/>
                          <a:cs typeface="+mn-cs"/>
                        </a:rPr>
                        <a:t>Accuracy </a:t>
                      </a:r>
                    </a:p>
                  </a:txBody>
                  <a:tcPr/>
                </a:tc>
                <a:tc>
                  <a:txBody>
                    <a:bodyPr/>
                    <a:lstStyle/>
                    <a:p>
                      <a:pPr algn="ctr"/>
                      <a:r>
                        <a:rPr lang="en-IN" sz="1200" dirty="0"/>
                        <a:t>_</a:t>
                      </a:r>
                    </a:p>
                  </a:txBody>
                  <a:tcPr/>
                </a:tc>
                <a:tc>
                  <a:txBody>
                    <a:bodyPr/>
                    <a:lstStyle/>
                    <a:p>
                      <a:pPr algn="ctr"/>
                      <a:r>
                        <a:rPr lang="en-IN" sz="1200" dirty="0"/>
                        <a:t>_</a:t>
                      </a:r>
                    </a:p>
                  </a:txBody>
                  <a:tcPr/>
                </a:tc>
                <a:tc>
                  <a:txBody>
                    <a:bodyPr/>
                    <a:lstStyle/>
                    <a:p>
                      <a:pPr algn="ctr" latinLnBrk="1">
                        <a:buNone/>
                      </a:pPr>
                      <a:r>
                        <a:rPr lang="en-IN" sz="1200" b="0" i="0" dirty="0">
                          <a:effectLst/>
                          <a:latin typeface="+mj-lt"/>
                        </a:rPr>
                        <a:t>0.97</a:t>
                      </a:r>
                    </a:p>
                  </a:txBody>
                  <a:tcPr/>
                </a:tc>
                <a:tc>
                  <a:txBody>
                    <a:bodyPr/>
                    <a:lstStyle/>
                    <a:p>
                      <a:pPr algn="ctr" latinLnBrk="1">
                        <a:buNone/>
                      </a:pPr>
                      <a:r>
                        <a:rPr lang="en-IN" sz="1200" b="0" i="0" dirty="0">
                          <a:effectLst/>
                          <a:latin typeface="+mj-lt"/>
                        </a:rPr>
                        <a:t>321</a:t>
                      </a:r>
                    </a:p>
                  </a:txBody>
                  <a:tcPr/>
                </a:tc>
                <a:extLst>
                  <a:ext uri="{0D108BD9-81ED-4DB2-BD59-A6C34878D82A}">
                    <a16:rowId xmlns:a16="http://schemas.microsoft.com/office/drawing/2014/main" val="623041104"/>
                  </a:ext>
                </a:extLst>
              </a:tr>
            </a:tbl>
          </a:graphicData>
        </a:graphic>
      </p:graphicFrame>
      <p:sp>
        <p:nvSpPr>
          <p:cNvPr id="4" name="TextBox 3">
            <a:extLst>
              <a:ext uri="{FF2B5EF4-FFF2-40B4-BE49-F238E27FC236}">
                <a16:creationId xmlns:a16="http://schemas.microsoft.com/office/drawing/2014/main" id="{46F66D2A-7351-2D58-0809-D22B86B288FB}"/>
              </a:ext>
            </a:extLst>
          </p:cNvPr>
          <p:cNvSpPr txBox="1"/>
          <p:nvPr/>
        </p:nvSpPr>
        <p:spPr>
          <a:xfrm>
            <a:off x="143508" y="5589240"/>
            <a:ext cx="3996444" cy="830997"/>
          </a:xfrm>
          <a:prstGeom prst="rect">
            <a:avLst/>
          </a:prstGeom>
          <a:noFill/>
        </p:spPr>
        <p:txBody>
          <a:bodyPr wrap="square" rtlCol="0">
            <a:spAutoFit/>
          </a:bodyPr>
          <a:lstStyle/>
          <a:p>
            <a:br>
              <a:rPr lang="en-IN" dirty="0"/>
            </a:br>
            <a:endParaRPr lang="en-IN" dirty="0"/>
          </a:p>
        </p:txBody>
      </p:sp>
      <p:pic>
        <p:nvPicPr>
          <p:cNvPr id="5" name="Picture 4">
            <a:extLst>
              <a:ext uri="{FF2B5EF4-FFF2-40B4-BE49-F238E27FC236}">
                <a16:creationId xmlns:a16="http://schemas.microsoft.com/office/drawing/2014/main" id="{5D24DF71-E496-96E6-259E-730DCFECD1CB}"/>
              </a:ext>
            </a:extLst>
          </p:cNvPr>
          <p:cNvPicPr>
            <a:picLocks noChangeAspect="1"/>
          </p:cNvPicPr>
          <p:nvPr/>
        </p:nvPicPr>
        <p:blipFill>
          <a:blip r:embed="rId2"/>
          <a:stretch>
            <a:fillRect/>
          </a:stretch>
        </p:blipFill>
        <p:spPr>
          <a:xfrm>
            <a:off x="251521" y="4560808"/>
            <a:ext cx="3888431" cy="2194560"/>
          </a:xfrm>
          <a:prstGeom prst="rect">
            <a:avLst/>
          </a:prstGeom>
        </p:spPr>
      </p:pic>
    </p:spTree>
    <p:extLst>
      <p:ext uri="{BB962C8B-B14F-4D97-AF65-F5344CB8AC3E}">
        <p14:creationId xmlns:p14="http://schemas.microsoft.com/office/powerpoint/2010/main" val="842062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A845C-474D-7ABE-07EE-F6B9AF38DBCD}"/>
              </a:ext>
            </a:extLst>
          </p:cNvPr>
          <p:cNvSpPr>
            <a:spLocks noGrp="1"/>
          </p:cNvSpPr>
          <p:nvPr>
            <p:ph type="title"/>
          </p:nvPr>
        </p:nvSpPr>
        <p:spPr>
          <a:xfrm>
            <a:off x="107504" y="908720"/>
            <a:ext cx="8686800" cy="388714"/>
          </a:xfrm>
        </p:spPr>
        <p:txBody>
          <a:bodyPr/>
          <a:lstStyle/>
          <a:p>
            <a:r>
              <a:rPr lang="en-IN" sz="2000" dirty="0"/>
              <a:t>4.4 Module 4 — Model Evaluation &amp; Inference Testing</a:t>
            </a:r>
          </a:p>
        </p:txBody>
      </p:sp>
      <p:sp>
        <p:nvSpPr>
          <p:cNvPr id="3" name="Content Placeholder 2">
            <a:extLst>
              <a:ext uri="{FF2B5EF4-FFF2-40B4-BE49-F238E27FC236}">
                <a16:creationId xmlns:a16="http://schemas.microsoft.com/office/drawing/2014/main" id="{D6260033-B7A6-78C2-47CA-39C1BE1DE80D}"/>
              </a:ext>
            </a:extLst>
          </p:cNvPr>
          <p:cNvSpPr>
            <a:spLocks noGrp="1"/>
          </p:cNvSpPr>
          <p:nvPr>
            <p:ph idx="1"/>
          </p:nvPr>
        </p:nvSpPr>
        <p:spPr>
          <a:xfrm>
            <a:off x="108315" y="1306764"/>
            <a:ext cx="8685989" cy="3346372"/>
          </a:xfrm>
        </p:spPr>
        <p:txBody>
          <a:bodyPr/>
          <a:lstStyle/>
          <a:p>
            <a:pPr marL="0" indent="0" algn="just">
              <a:buNone/>
            </a:pPr>
            <a:r>
              <a:rPr lang="en-US" sz="1600" b="1" dirty="0"/>
              <a:t>1. Testing on Unseen Images</a:t>
            </a:r>
            <a:endParaRPr lang="en-US" sz="1600" dirty="0"/>
          </a:p>
          <a:p>
            <a:pPr algn="just"/>
            <a:r>
              <a:rPr lang="en-US" sz="1400" dirty="0"/>
              <a:t>The model trained in Module 3 is evaluated on a </a:t>
            </a:r>
            <a:r>
              <a:rPr lang="en-US" sz="1400" b="1" dirty="0"/>
              <a:t>separate test set</a:t>
            </a:r>
            <a:r>
              <a:rPr lang="en-US" sz="1400" dirty="0"/>
              <a:t> consisting of ROIs not used in training or validation.</a:t>
            </a:r>
          </a:p>
          <a:p>
            <a:pPr algn="just"/>
            <a:r>
              <a:rPr lang="en-US" sz="1400" dirty="0"/>
              <a:t>Each test image is preprocessed (resized, normalized) and passed through the EfficientNet-B4 model for prediction.</a:t>
            </a:r>
          </a:p>
          <a:p>
            <a:pPr marL="0" indent="0" algn="just">
              <a:buNone/>
            </a:pPr>
            <a:r>
              <a:rPr lang="en-US" sz="1600" b="1" dirty="0"/>
              <a:t>2. Prediction Accuracy</a:t>
            </a:r>
            <a:endParaRPr lang="en-US" sz="1600" dirty="0"/>
          </a:p>
          <a:p>
            <a:pPr algn="just"/>
            <a:r>
              <a:rPr lang="en-US" sz="1400" dirty="0"/>
              <a:t>The predicted labels are compared to the true labels to calculate </a:t>
            </a:r>
            <a:r>
              <a:rPr lang="en-US" sz="1400" b="1" dirty="0"/>
              <a:t>overall accuracy</a:t>
            </a:r>
            <a:r>
              <a:rPr lang="en-US" sz="1400" dirty="0"/>
              <a:t>.</a:t>
            </a:r>
          </a:p>
          <a:p>
            <a:pPr algn="just"/>
            <a:r>
              <a:rPr lang="en-US" sz="1400" b="1" dirty="0"/>
              <a:t>Class-wise metrics</a:t>
            </a:r>
            <a:r>
              <a:rPr lang="en-US" sz="1400" dirty="0"/>
              <a:t> including </a:t>
            </a:r>
            <a:r>
              <a:rPr lang="en-US" sz="1400" b="1" dirty="0"/>
              <a:t>precision, recall, and F1-score</a:t>
            </a:r>
            <a:r>
              <a:rPr lang="en-US" sz="1400" dirty="0"/>
              <a:t> provide detailed insight into the model’s performance for each defect type.</a:t>
            </a:r>
          </a:p>
          <a:p>
            <a:pPr marL="0" indent="0" algn="just">
              <a:buNone/>
            </a:pPr>
            <a:r>
              <a:rPr lang="en-US" sz="1600" b="1" dirty="0"/>
              <a:t>3. Confusion Matrix Visualization</a:t>
            </a:r>
            <a:endParaRPr lang="en-US" sz="1600" dirty="0"/>
          </a:p>
          <a:p>
            <a:pPr algn="just"/>
            <a:r>
              <a:rPr lang="en-US" sz="1400" dirty="0"/>
              <a:t>A </a:t>
            </a:r>
            <a:r>
              <a:rPr lang="en-US" sz="1400" b="1" dirty="0"/>
              <a:t>confusion matrix</a:t>
            </a:r>
            <a:r>
              <a:rPr lang="en-US" sz="1400" dirty="0"/>
              <a:t> is generated to visualize misclassifications and highlight which defect types are most often confused.</a:t>
            </a:r>
          </a:p>
          <a:p>
            <a:pPr algn="just"/>
            <a:r>
              <a:rPr lang="en-US" sz="1400" dirty="0"/>
              <a:t>This helps identify weaknesses in the model and areas for potential improvement.</a:t>
            </a:r>
          </a:p>
          <a:p>
            <a:pPr marL="0" indent="0">
              <a:buNone/>
            </a:pPr>
            <a:endParaRPr lang="en-IN" sz="1400" dirty="0"/>
          </a:p>
        </p:txBody>
      </p:sp>
      <p:pic>
        <p:nvPicPr>
          <p:cNvPr id="4" name="Picture 3">
            <a:extLst>
              <a:ext uri="{FF2B5EF4-FFF2-40B4-BE49-F238E27FC236}">
                <a16:creationId xmlns:a16="http://schemas.microsoft.com/office/drawing/2014/main" id="{75C9EC34-DD38-B236-E153-9097FCFDF932}"/>
              </a:ext>
            </a:extLst>
          </p:cNvPr>
          <p:cNvPicPr>
            <a:picLocks noChangeAspect="1"/>
          </p:cNvPicPr>
          <p:nvPr/>
        </p:nvPicPr>
        <p:blipFill>
          <a:blip r:embed="rId2"/>
          <a:stretch>
            <a:fillRect/>
          </a:stretch>
        </p:blipFill>
        <p:spPr>
          <a:xfrm>
            <a:off x="179512" y="4653136"/>
            <a:ext cx="5616624" cy="2088232"/>
          </a:xfrm>
          <a:prstGeom prst="rect">
            <a:avLst/>
          </a:prstGeom>
        </p:spPr>
      </p:pic>
      <p:pic>
        <p:nvPicPr>
          <p:cNvPr id="5" name="Picture 4">
            <a:extLst>
              <a:ext uri="{FF2B5EF4-FFF2-40B4-BE49-F238E27FC236}">
                <a16:creationId xmlns:a16="http://schemas.microsoft.com/office/drawing/2014/main" id="{1B76359F-4EAD-66DC-3E56-BDC3449044DA}"/>
              </a:ext>
            </a:extLst>
          </p:cNvPr>
          <p:cNvPicPr>
            <a:picLocks noChangeAspect="1"/>
          </p:cNvPicPr>
          <p:nvPr/>
        </p:nvPicPr>
        <p:blipFill>
          <a:blip r:embed="rId3"/>
          <a:stretch>
            <a:fillRect/>
          </a:stretch>
        </p:blipFill>
        <p:spPr>
          <a:xfrm>
            <a:off x="5842993" y="4662466"/>
            <a:ext cx="3168353" cy="2088232"/>
          </a:xfrm>
          <a:prstGeom prst="rect">
            <a:avLst/>
          </a:prstGeom>
        </p:spPr>
      </p:pic>
    </p:spTree>
    <p:extLst>
      <p:ext uri="{BB962C8B-B14F-4D97-AF65-F5344CB8AC3E}">
        <p14:creationId xmlns:p14="http://schemas.microsoft.com/office/powerpoint/2010/main" val="40216958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14C72B8-24E2-1214-E58B-26E698FD3230}"/>
              </a:ext>
            </a:extLst>
          </p:cNvPr>
          <p:cNvSpPr>
            <a:spLocks noGrp="1"/>
          </p:cNvSpPr>
          <p:nvPr>
            <p:ph type="body" sz="half" idx="2"/>
          </p:nvPr>
        </p:nvSpPr>
        <p:spPr>
          <a:xfrm>
            <a:off x="182350" y="764704"/>
            <a:ext cx="8566114" cy="5904656"/>
          </a:xfrm>
        </p:spPr>
        <p:txBody>
          <a:bodyPr/>
          <a:lstStyle/>
          <a:p>
            <a:pPr>
              <a:buNone/>
            </a:pPr>
            <a:r>
              <a:rPr lang="en-US" sz="2000" b="1" dirty="0"/>
              <a:t>4.5 Module 5 — Web UI for Upload &amp; Visualization</a:t>
            </a:r>
          </a:p>
          <a:p>
            <a:pPr>
              <a:buNone/>
            </a:pPr>
            <a:r>
              <a:rPr lang="en-US" b="1" dirty="0"/>
              <a:t>1. Uploading PCB Images</a:t>
            </a:r>
            <a:endParaRPr lang="en-US" dirty="0"/>
          </a:p>
          <a:p>
            <a:pPr marL="285750" indent="-285750">
              <a:buFont typeface="Arial" panose="020B0604020202020204" pitchFamily="34" charset="0"/>
              <a:buChar char="•"/>
            </a:pPr>
            <a:r>
              <a:rPr lang="en-US" sz="1400" dirty="0"/>
              <a:t>Users can upload defect PCB images in formats like PNG, JPG, or JPEG.</a:t>
            </a:r>
          </a:p>
          <a:p>
            <a:pPr marL="285750" indent="-285750">
              <a:buFont typeface="Arial" panose="020B0604020202020204" pitchFamily="34" charset="0"/>
              <a:buChar char="•"/>
            </a:pPr>
            <a:r>
              <a:rPr lang="en-US" sz="1400" dirty="0"/>
              <a:t>The interface immediately displays the uploaded image for confirmation.</a:t>
            </a:r>
          </a:p>
          <a:p>
            <a:pPr>
              <a:buNone/>
            </a:pPr>
            <a:r>
              <a:rPr lang="en-US" b="1" dirty="0"/>
              <a:t>2. Defect Detection Workflow</a:t>
            </a:r>
            <a:endParaRPr lang="en-US" dirty="0"/>
          </a:p>
          <a:p>
            <a:pPr marL="285750" indent="-285750">
              <a:buFont typeface="Arial" panose="020B0604020202020204" pitchFamily="34" charset="0"/>
              <a:buChar char="•"/>
            </a:pPr>
            <a:r>
              <a:rPr lang="en-US" sz="1400" dirty="0"/>
              <a:t>The uploaded image is aligned with the corresponding </a:t>
            </a:r>
            <a:r>
              <a:rPr lang="en-US" sz="1400" b="1" dirty="0"/>
              <a:t>defect-free template</a:t>
            </a:r>
            <a:r>
              <a:rPr lang="en-US" sz="1400" dirty="0"/>
              <a:t>.</a:t>
            </a:r>
          </a:p>
          <a:p>
            <a:pPr marL="285750" indent="-285750">
              <a:buFont typeface="Arial" panose="020B0604020202020204" pitchFamily="34" charset="0"/>
              <a:buChar char="•"/>
            </a:pPr>
            <a:r>
              <a:rPr lang="en-US" sz="1400" dirty="0"/>
              <a:t>A difference map is computed to highlight deviations.</a:t>
            </a:r>
          </a:p>
          <a:p>
            <a:pPr marL="285750" indent="-285750">
              <a:buFont typeface="Arial" panose="020B0604020202020204" pitchFamily="34" charset="0"/>
              <a:buChar char="•"/>
            </a:pPr>
            <a:r>
              <a:rPr lang="en-US" sz="1400" dirty="0"/>
              <a:t>A </a:t>
            </a:r>
            <a:r>
              <a:rPr lang="en-US" sz="1400" b="1" dirty="0"/>
              <a:t>defect mask</a:t>
            </a:r>
            <a:r>
              <a:rPr lang="en-US" sz="1400" dirty="0"/>
              <a:t> is generated using thresholding to isolate defective regions.</a:t>
            </a:r>
          </a:p>
          <a:p>
            <a:pPr>
              <a:buNone/>
            </a:pPr>
            <a:r>
              <a:rPr lang="en-US" b="1" dirty="0"/>
              <a:t>3. ROI Extraction &amp; Classification</a:t>
            </a:r>
            <a:endParaRPr lang="en-US" dirty="0"/>
          </a:p>
          <a:p>
            <a:pPr marL="285750" indent="-285750">
              <a:buFont typeface="Arial" panose="020B0604020202020204" pitchFamily="34" charset="0"/>
              <a:buChar char="•"/>
            </a:pPr>
            <a:r>
              <a:rPr lang="en-US" sz="1400" dirty="0"/>
              <a:t>Detected defects are cropped into </a:t>
            </a:r>
            <a:r>
              <a:rPr lang="en-US" sz="1400" b="1" dirty="0"/>
              <a:t>Regions of Interest (ROIs)</a:t>
            </a:r>
            <a:r>
              <a:rPr lang="en-US" sz="1400" dirty="0"/>
              <a:t>.</a:t>
            </a:r>
          </a:p>
          <a:p>
            <a:pPr marL="285750" indent="-285750">
              <a:buFont typeface="Arial" panose="020B0604020202020204" pitchFamily="34" charset="0"/>
              <a:buChar char="•"/>
            </a:pPr>
            <a:r>
              <a:rPr lang="en-US" sz="1400" dirty="0"/>
              <a:t>Each ROI is classified using the trained EfficientNet-B4 model.</a:t>
            </a:r>
          </a:p>
          <a:p>
            <a:pPr marL="285750" indent="-285750">
              <a:buFont typeface="Arial" panose="020B0604020202020204" pitchFamily="34" charset="0"/>
              <a:buChar char="•"/>
            </a:pPr>
            <a:r>
              <a:rPr lang="en-US" sz="1400" dirty="0"/>
              <a:t>Bounding boxes and predicted labels are drawn on the annotated PCB image.</a:t>
            </a:r>
          </a:p>
          <a:p>
            <a:r>
              <a:rPr lang="en-IN" b="1" dirty="0"/>
              <a:t>4. Visualization &amp; Logs</a:t>
            </a:r>
            <a:endParaRPr lang="en-IN" dirty="0"/>
          </a:p>
          <a:p>
            <a:pPr marL="285750" indent="-285750">
              <a:buFont typeface="Arial" panose="020B0604020202020204" pitchFamily="34" charset="0"/>
              <a:buChar char="•"/>
            </a:pPr>
            <a:r>
              <a:rPr lang="en-IN" dirty="0"/>
              <a:t>The web interface displays:</a:t>
            </a:r>
          </a:p>
          <a:p>
            <a:pPr lvl="1"/>
            <a:r>
              <a:rPr lang="en-IN" dirty="0"/>
              <a:t>Aligned grayscale PCB image, Difference map, Defect mask, Annotated PCB with bounding boxes and labels, Cropped ROI images with predicted defect type.</a:t>
            </a:r>
          </a:p>
          <a:p>
            <a:pPr marL="285750" indent="-285750">
              <a:buFont typeface="Arial" panose="020B0604020202020204" pitchFamily="34" charset="0"/>
              <a:buChar char="•"/>
            </a:pPr>
            <a:r>
              <a:rPr lang="en-IN" dirty="0"/>
              <a:t>A defect detection log provides detailed information: </a:t>
            </a:r>
            <a:r>
              <a:rPr lang="en-IN" b="1" dirty="0"/>
              <a:t>label, confidence, and bounding box coordinates</a:t>
            </a:r>
            <a:endParaRPr lang="en-US" sz="1400" dirty="0"/>
          </a:p>
          <a:p>
            <a:pPr>
              <a:buNone/>
            </a:pPr>
            <a:r>
              <a:rPr lang="en-US" b="1" dirty="0"/>
              <a:t>5. User-Friendly Interaction</a:t>
            </a:r>
            <a:endParaRPr lang="en-US" dirty="0"/>
          </a:p>
          <a:p>
            <a:pPr marL="285750" indent="-285750">
              <a:buFont typeface="Arial" panose="020B0604020202020204" pitchFamily="34" charset="0"/>
              <a:buChar char="•"/>
            </a:pPr>
            <a:r>
              <a:rPr lang="en-US" sz="1400" dirty="0"/>
              <a:t>The interface is interactive, responsive, and </a:t>
            </a:r>
            <a:r>
              <a:rPr lang="en-US" sz="1400" b="1" dirty="0"/>
              <a:t>requires no coding knowledge</a:t>
            </a:r>
            <a:r>
              <a:rPr lang="en-US" sz="1400" dirty="0"/>
              <a:t>.</a:t>
            </a:r>
          </a:p>
          <a:p>
            <a:pPr marL="285750" indent="-285750">
              <a:buFont typeface="Arial" panose="020B0604020202020204" pitchFamily="34" charset="0"/>
              <a:buChar char="•"/>
            </a:pPr>
            <a:r>
              <a:rPr lang="en-US" sz="1400" dirty="0"/>
              <a:t>It allows </a:t>
            </a:r>
            <a:r>
              <a:rPr lang="en-US" sz="1400" b="1" dirty="0"/>
              <a:t>real-time testing</a:t>
            </a:r>
            <a:r>
              <a:rPr lang="en-US" sz="1400" dirty="0"/>
              <a:t> of new PCB images and visualization of defect analysis results.</a:t>
            </a:r>
          </a:p>
          <a:p>
            <a:endParaRPr lang="en-IN" dirty="0"/>
          </a:p>
        </p:txBody>
      </p:sp>
    </p:spTree>
    <p:extLst>
      <p:ext uri="{BB962C8B-B14F-4D97-AF65-F5344CB8AC3E}">
        <p14:creationId xmlns:p14="http://schemas.microsoft.com/office/powerpoint/2010/main" val="460575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11C84-E951-57C7-C5F9-2825EA033DA0}"/>
              </a:ext>
            </a:extLst>
          </p:cNvPr>
          <p:cNvSpPr>
            <a:spLocks noGrp="1"/>
          </p:cNvSpPr>
          <p:nvPr>
            <p:ph type="title"/>
          </p:nvPr>
        </p:nvSpPr>
        <p:spPr>
          <a:xfrm>
            <a:off x="85725" y="808038"/>
            <a:ext cx="8686800" cy="446186"/>
          </a:xfrm>
        </p:spPr>
        <p:txBody>
          <a:bodyPr/>
          <a:lstStyle/>
          <a:p>
            <a:r>
              <a:rPr lang="en-IN" sz="2000" b="1" dirty="0"/>
              <a:t>4.6 Module 6 — Backend Pipeline Integration</a:t>
            </a:r>
          </a:p>
        </p:txBody>
      </p:sp>
      <p:sp>
        <p:nvSpPr>
          <p:cNvPr id="3" name="Content Placeholder 2">
            <a:extLst>
              <a:ext uri="{FF2B5EF4-FFF2-40B4-BE49-F238E27FC236}">
                <a16:creationId xmlns:a16="http://schemas.microsoft.com/office/drawing/2014/main" id="{7DF742F3-DF3B-2D44-70A1-C4207BCFDA40}"/>
              </a:ext>
            </a:extLst>
          </p:cNvPr>
          <p:cNvSpPr>
            <a:spLocks noGrp="1"/>
          </p:cNvSpPr>
          <p:nvPr>
            <p:ph idx="1"/>
          </p:nvPr>
        </p:nvSpPr>
        <p:spPr>
          <a:xfrm>
            <a:off x="85725" y="1196752"/>
            <a:ext cx="9058275" cy="5520544"/>
          </a:xfrm>
        </p:spPr>
        <p:txBody>
          <a:bodyPr/>
          <a:lstStyle/>
          <a:p>
            <a:pPr marL="0" indent="0">
              <a:buNone/>
            </a:pPr>
            <a:r>
              <a:rPr lang="en-IN" sz="1600" dirty="0"/>
              <a:t>Pipeline Steps:</a:t>
            </a:r>
            <a:endParaRPr lang="en-US" sz="1600" b="1" dirty="0"/>
          </a:p>
          <a:p>
            <a:pPr>
              <a:buFont typeface="+mj-lt"/>
              <a:buAutoNum type="arabicPeriod"/>
            </a:pPr>
            <a:r>
              <a:rPr lang="en-US" sz="1600" b="1" dirty="0"/>
              <a:t>Template Matching</a:t>
            </a:r>
            <a:endParaRPr lang="en-US" sz="1600" dirty="0"/>
          </a:p>
          <a:p>
            <a:pPr lvl="1">
              <a:buFont typeface="Arial" panose="020B0604020202020204" pitchFamily="34" charset="0"/>
              <a:buChar char="•"/>
            </a:pPr>
            <a:r>
              <a:rPr lang="en-US" sz="1400" dirty="0"/>
              <a:t>Uses Structural Similarity Index (SSIM) to find the closest defect-free PCB template.</a:t>
            </a:r>
          </a:p>
          <a:p>
            <a:pPr lvl="1">
              <a:buFont typeface="Arial" panose="020B0604020202020204" pitchFamily="34" charset="0"/>
              <a:buChar char="•"/>
            </a:pPr>
            <a:r>
              <a:rPr lang="en-US" sz="1400" dirty="0"/>
              <a:t>Ensures accurate reference for detecting anomalies.</a:t>
            </a:r>
          </a:p>
          <a:p>
            <a:pPr>
              <a:buFont typeface="+mj-lt"/>
              <a:buAutoNum type="arabicPeriod"/>
            </a:pPr>
            <a:r>
              <a:rPr lang="en-US" sz="1600" b="1" dirty="0"/>
              <a:t>Image Alignment</a:t>
            </a:r>
            <a:endParaRPr lang="en-US" sz="1600" dirty="0"/>
          </a:p>
          <a:p>
            <a:pPr lvl="1">
              <a:buFont typeface="Arial" panose="020B0604020202020204" pitchFamily="34" charset="0"/>
              <a:buChar char="•"/>
            </a:pPr>
            <a:r>
              <a:rPr lang="en-US" sz="1400" dirty="0"/>
              <a:t>Aligns the defect PCB to the template using ORB </a:t>
            </a:r>
            <a:r>
              <a:rPr lang="en-US" sz="1400" dirty="0" err="1"/>
              <a:t>keypoints</a:t>
            </a:r>
            <a:r>
              <a:rPr lang="en-US" sz="1400" dirty="0"/>
              <a:t> and </a:t>
            </a:r>
            <a:r>
              <a:rPr lang="en-US" sz="1400" dirty="0" err="1"/>
              <a:t>homography</a:t>
            </a:r>
            <a:r>
              <a:rPr lang="en-US" sz="1400" dirty="0"/>
              <a:t> transformation.</a:t>
            </a:r>
          </a:p>
          <a:p>
            <a:pPr lvl="1">
              <a:buFont typeface="Arial" panose="020B0604020202020204" pitchFamily="34" charset="0"/>
              <a:buChar char="•"/>
            </a:pPr>
            <a:r>
              <a:rPr lang="en-US" sz="1400" dirty="0"/>
              <a:t>Corrects scale, rotation, and perspective differences for precise comparison.</a:t>
            </a:r>
          </a:p>
          <a:p>
            <a:pPr>
              <a:buFont typeface="+mj-lt"/>
              <a:buAutoNum type="arabicPeriod"/>
            </a:pPr>
            <a:r>
              <a:rPr lang="en-US" sz="1600" b="1" dirty="0"/>
              <a:t>Difference Map &amp; Defect Mask</a:t>
            </a:r>
            <a:endParaRPr lang="en-US" sz="1600" dirty="0"/>
          </a:p>
          <a:p>
            <a:pPr lvl="1">
              <a:buFont typeface="Arial" panose="020B0604020202020204" pitchFamily="34" charset="0"/>
              <a:buChar char="•"/>
            </a:pPr>
            <a:r>
              <a:rPr lang="en-US" sz="1400" dirty="0"/>
              <a:t>Computes pixel-wise differences between aligned defect and template images.</a:t>
            </a:r>
          </a:p>
          <a:p>
            <a:pPr lvl="1">
              <a:buFont typeface="Arial" panose="020B0604020202020204" pitchFamily="34" charset="0"/>
              <a:buChar char="•"/>
            </a:pPr>
            <a:r>
              <a:rPr lang="en-US" sz="1400" dirty="0"/>
              <a:t>Applies Otsu thresholding and morphological operations (erosion and dilation) to isolate defect regions.</a:t>
            </a:r>
          </a:p>
          <a:p>
            <a:pPr>
              <a:buFont typeface="+mj-lt"/>
              <a:buAutoNum type="arabicPeriod"/>
            </a:pPr>
            <a:r>
              <a:rPr lang="en-US" sz="1600" b="1" dirty="0"/>
              <a:t>ROI Extraction</a:t>
            </a:r>
            <a:endParaRPr lang="en-US" sz="1600" dirty="0"/>
          </a:p>
          <a:p>
            <a:pPr lvl="1">
              <a:buFont typeface="Arial" panose="020B0604020202020204" pitchFamily="34" charset="0"/>
              <a:buChar char="•"/>
            </a:pPr>
            <a:r>
              <a:rPr lang="en-US" sz="1400" dirty="0"/>
              <a:t>Detects contours of defect areas from the mask.</a:t>
            </a:r>
          </a:p>
          <a:p>
            <a:pPr lvl="1">
              <a:buFont typeface="Arial" panose="020B0604020202020204" pitchFamily="34" charset="0"/>
              <a:buChar char="•"/>
            </a:pPr>
            <a:r>
              <a:rPr lang="en-US" sz="1400" dirty="0"/>
              <a:t>Crops bounding boxes around each defect with padding for context.</a:t>
            </a:r>
          </a:p>
          <a:p>
            <a:pPr lvl="1">
              <a:buFont typeface="Arial" panose="020B0604020202020204" pitchFamily="34" charset="0"/>
              <a:buChar char="•"/>
            </a:pPr>
            <a:r>
              <a:rPr lang="en-US" sz="1400" dirty="0"/>
              <a:t>Prepares ROIs for classification.</a:t>
            </a:r>
          </a:p>
          <a:p>
            <a:pPr>
              <a:buFont typeface="+mj-lt"/>
              <a:buAutoNum type="arabicPeriod"/>
            </a:pPr>
            <a:r>
              <a:rPr lang="en-US" sz="1600" b="1" dirty="0"/>
              <a:t>Defect Classification</a:t>
            </a:r>
            <a:endParaRPr lang="en-US" sz="1600" dirty="0"/>
          </a:p>
          <a:p>
            <a:pPr lvl="1">
              <a:buFont typeface="Arial" panose="020B0604020202020204" pitchFamily="34" charset="0"/>
              <a:buChar char="•"/>
            </a:pPr>
            <a:r>
              <a:rPr lang="en-US" sz="1400" dirty="0"/>
              <a:t>Each ROI is processed by the trained EfficientNet-B4 model.</a:t>
            </a:r>
          </a:p>
          <a:p>
            <a:pPr lvl="1">
              <a:buFont typeface="Arial" panose="020B0604020202020204" pitchFamily="34" charset="0"/>
              <a:buChar char="•"/>
            </a:pPr>
            <a:r>
              <a:rPr lang="en-US" sz="1400" dirty="0"/>
              <a:t>Predicts defect type and confidence score for every detected region.</a:t>
            </a:r>
          </a:p>
          <a:p>
            <a:pPr>
              <a:buFont typeface="+mj-lt"/>
              <a:buAutoNum type="arabicPeriod"/>
            </a:pPr>
            <a:r>
              <a:rPr lang="en-US" sz="1600" b="1" dirty="0"/>
              <a:t>Annotation &amp; Logging</a:t>
            </a:r>
            <a:endParaRPr lang="en-US" sz="1600" dirty="0"/>
          </a:p>
          <a:p>
            <a:pPr lvl="1">
              <a:buFont typeface="Arial" panose="020B0604020202020204" pitchFamily="34" charset="0"/>
              <a:buChar char="•"/>
            </a:pPr>
            <a:r>
              <a:rPr lang="en-US" sz="1400" dirty="0"/>
              <a:t>Annotates original PCB image with bounding boxes, predicted labels, and confidence.</a:t>
            </a:r>
          </a:p>
          <a:p>
            <a:pPr lvl="1">
              <a:buFont typeface="Arial" panose="020B0604020202020204" pitchFamily="34" charset="0"/>
              <a:buChar char="•"/>
            </a:pPr>
            <a:r>
              <a:rPr lang="en-US" sz="1400" dirty="0"/>
              <a:t>Maintains a structured defect log for all detected regions, including coordinates, labels, and confidence values.</a:t>
            </a:r>
          </a:p>
          <a:p>
            <a:pPr marL="0" indent="0" algn="just">
              <a:buNone/>
            </a:pPr>
            <a:endParaRPr lang="en-IN" sz="1400" dirty="0"/>
          </a:p>
        </p:txBody>
      </p:sp>
    </p:spTree>
    <p:extLst>
      <p:ext uri="{BB962C8B-B14F-4D97-AF65-F5344CB8AC3E}">
        <p14:creationId xmlns:p14="http://schemas.microsoft.com/office/powerpoint/2010/main" val="3239236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6718E2F8-37AD-9F80-A266-D134B91C2801}"/>
              </a:ext>
            </a:extLst>
          </p:cNvPr>
          <p:cNvSpPr>
            <a:spLocks noGrp="1" noChangeArrowheads="1"/>
          </p:cNvSpPr>
          <p:nvPr>
            <p:ph idx="1"/>
          </p:nvPr>
        </p:nvSpPr>
        <p:spPr bwMode="auto">
          <a:xfrm>
            <a:off x="107504" y="836712"/>
            <a:ext cx="8856538" cy="3170099"/>
          </a:xfrm>
          <a:prstGeom prst="rect">
            <a:avLst/>
          </a:prstGeom>
          <a:noFill/>
          <a:ln>
            <a:noFill/>
          </a:ln>
          <a:effectLst/>
          <a:extLst>
            <a:ext uri="{909E8E84-426E-40DD-AFC4-6F175D3DCCD1}">
              <a14:hiddenFill xmlns:a14="http://schemas.microsoft.com/office/drawing/2010/main">
                <a:gradFill rotWithShape="1">
                  <a:gsLst>
                    <a:gs pos="0">
                      <a:schemeClr val="bg2">
                        <a:gamma/>
                        <a:tint val="26667"/>
                        <a:invGamma/>
                      </a:schemeClr>
                    </a:gs>
                    <a:gs pos="100000">
                      <a:schemeClr val="bg2">
                        <a:alpha val="14999"/>
                      </a:schemeClr>
                    </a:gs>
                  </a:gsLst>
                  <a:lin ang="5400000" scaled="1"/>
                </a:gra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a:spcBef>
                <a:spcPct val="0"/>
              </a:spcBef>
              <a:buNone/>
            </a:pPr>
            <a:r>
              <a:rPr lang="en-US" sz="2000" b="1" dirty="0"/>
              <a:t>4.7 Module 7 — Testing, Evaluation &amp; Export System</a:t>
            </a:r>
          </a:p>
          <a:p>
            <a:pPr marL="0" marR="0" lvl="0" indent="0" algn="just" defTabSz="914400" rtl="0" eaLnBrk="1" fontAlgn="base" latinLnBrk="0" hangingPunct="1">
              <a:lnSpc>
                <a:spcPct val="100000"/>
              </a:lnSpc>
              <a:spcBef>
                <a:spcPct val="0"/>
              </a:spcBef>
              <a:spcAft>
                <a:spcPct val="0"/>
              </a:spcAft>
              <a:buClrTx/>
              <a:buSzTx/>
              <a:buNone/>
              <a:tabLst/>
            </a:pPr>
            <a:endParaRPr kumimoji="0" lang="en-IN" altLang="en-US" sz="1600" b="1" i="0" u="none" strike="noStrike" cap="none" normalizeH="0" baseline="0" dirty="0">
              <a:ln>
                <a:noFill/>
              </a:ln>
              <a:effectLst/>
              <a:latin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None/>
              <a:tabLst/>
            </a:pPr>
            <a:r>
              <a:rPr kumimoji="0" lang="en-IN" altLang="en-US" sz="1600" b="1" i="0" u="none" strike="noStrike" cap="none" normalizeH="0" baseline="0" dirty="0">
                <a:ln>
                  <a:noFill/>
                </a:ln>
                <a:effectLst/>
                <a:latin typeface="Arial" panose="020B0604020202020204" pitchFamily="34" charset="0"/>
              </a:rPr>
              <a:t>1. Annotated Image Output</a:t>
            </a:r>
            <a:endParaRPr kumimoji="0" lang="en-IN" altLang="en-US" sz="1600" b="0" i="0" u="none" strike="noStrike" cap="none" normalizeH="0" baseline="0" dirty="0">
              <a:ln>
                <a:noFill/>
              </a:ln>
              <a:effectLst/>
              <a:latin typeface="Arial" panose="020B0604020202020204" pitchFamily="34" charset="0"/>
            </a:endParaRPr>
          </a:p>
          <a:p>
            <a:pPr algn="just" eaLnBrk="0" hangingPunct="0">
              <a:spcBef>
                <a:spcPct val="0"/>
              </a:spcBef>
            </a:pPr>
            <a:r>
              <a:rPr kumimoji="0" lang="en-IN" altLang="en-US" sz="1400" b="0" i="0" u="none" strike="noStrike" cap="none" normalizeH="0" baseline="0" dirty="0">
                <a:ln>
                  <a:noFill/>
                </a:ln>
                <a:effectLst/>
                <a:latin typeface="Arial" panose="020B0604020202020204" pitchFamily="34" charset="0"/>
              </a:rPr>
              <a:t>Highlights detected PCB defects using bounding boxes and labels.</a:t>
            </a:r>
          </a:p>
          <a:p>
            <a:pPr algn="just" eaLnBrk="0" hangingPunct="0">
              <a:spcBef>
                <a:spcPct val="0"/>
              </a:spcBef>
            </a:pPr>
            <a:r>
              <a:rPr kumimoji="0" lang="en-IN" altLang="en-US" sz="1400" b="0" i="0" u="none" strike="noStrike" cap="none" normalizeH="0" baseline="0" dirty="0">
                <a:ln>
                  <a:noFill/>
                </a:ln>
                <a:effectLst/>
                <a:latin typeface="Arial" panose="020B0604020202020204" pitchFamily="34" charset="0"/>
              </a:rPr>
              <a:t>Provides visual verification of defect locations and types.</a:t>
            </a:r>
          </a:p>
          <a:p>
            <a:pPr marL="0" marR="0" lvl="0" indent="0" algn="just" defTabSz="914400" rtl="0" eaLnBrk="0" fontAlgn="base" latinLnBrk="0" hangingPunct="0">
              <a:lnSpc>
                <a:spcPct val="100000"/>
              </a:lnSpc>
              <a:spcBef>
                <a:spcPct val="0"/>
              </a:spcBef>
              <a:spcAft>
                <a:spcPct val="0"/>
              </a:spcAft>
              <a:buClrTx/>
              <a:buSzTx/>
              <a:buNone/>
              <a:tabLst/>
            </a:pPr>
            <a:r>
              <a:rPr kumimoji="0" lang="en-IN" altLang="en-US" sz="1600" b="1" i="0" u="none" strike="noStrike" cap="none" normalizeH="0" baseline="0" dirty="0">
                <a:ln>
                  <a:noFill/>
                </a:ln>
                <a:effectLst/>
                <a:latin typeface="Arial" panose="020B0604020202020204" pitchFamily="34" charset="0"/>
              </a:rPr>
              <a:t>2. CSV Defect Log</a:t>
            </a:r>
            <a:endParaRPr kumimoji="0" lang="en-IN" altLang="en-US" sz="1600" b="0" i="0" u="none" strike="noStrike" cap="none" normalizeH="0" baseline="0" dirty="0">
              <a:ln>
                <a:noFill/>
              </a:ln>
              <a:effectLst/>
              <a:latin typeface="Arial" panose="020B0604020202020204" pitchFamily="34" charset="0"/>
            </a:endParaRPr>
          </a:p>
          <a:p>
            <a:pPr algn="just" eaLnBrk="0" hangingPunct="0">
              <a:spcBef>
                <a:spcPct val="0"/>
              </a:spcBef>
            </a:pPr>
            <a:r>
              <a:rPr kumimoji="0" lang="en-IN" altLang="en-US" sz="1400" b="0" i="0" u="none" strike="noStrike" cap="none" normalizeH="0" baseline="0" dirty="0">
                <a:ln>
                  <a:noFill/>
                </a:ln>
                <a:effectLst/>
                <a:latin typeface="Arial" panose="020B0604020202020204" pitchFamily="34" charset="0"/>
              </a:rPr>
              <a:t>Stores detailed information for each defect: type, confidence score, bounding box coordinates, timestamp, and matched template image.</a:t>
            </a:r>
          </a:p>
          <a:p>
            <a:pPr algn="just" eaLnBrk="0" hangingPunct="0">
              <a:spcBef>
                <a:spcPct val="0"/>
              </a:spcBef>
            </a:pPr>
            <a:r>
              <a:rPr kumimoji="0" lang="en-IN" altLang="en-US" sz="1400" b="0" i="0" u="none" strike="noStrike" cap="none" normalizeH="0" baseline="0" dirty="0">
                <a:ln>
                  <a:noFill/>
                </a:ln>
                <a:effectLst/>
                <a:latin typeface="Arial" panose="020B0604020202020204" pitchFamily="34" charset="0"/>
              </a:rPr>
              <a:t>Useful for documentation, analysis, and reporting.</a:t>
            </a:r>
          </a:p>
          <a:p>
            <a:pPr marL="0" marR="0" lvl="0" indent="0" algn="just" defTabSz="914400" rtl="0" eaLnBrk="0" fontAlgn="base" latinLnBrk="0" hangingPunct="0">
              <a:lnSpc>
                <a:spcPct val="100000"/>
              </a:lnSpc>
              <a:spcBef>
                <a:spcPct val="0"/>
              </a:spcBef>
              <a:spcAft>
                <a:spcPct val="0"/>
              </a:spcAft>
              <a:buClrTx/>
              <a:buSzTx/>
              <a:buNone/>
              <a:tabLst/>
            </a:pPr>
            <a:r>
              <a:rPr kumimoji="0" lang="en-IN" altLang="en-US" sz="1600" b="1" i="0" u="none" strike="noStrike" cap="none" normalizeH="0" baseline="0" dirty="0">
                <a:ln>
                  <a:noFill/>
                </a:ln>
                <a:effectLst/>
                <a:latin typeface="Arial" panose="020B0604020202020204" pitchFamily="34" charset="0"/>
              </a:rPr>
              <a:t>3. Download Features</a:t>
            </a:r>
            <a:endParaRPr kumimoji="0" lang="en-IN" altLang="en-US" sz="1600" b="0" i="0" u="none" strike="noStrike" cap="none" normalizeH="0" baseline="0" dirty="0">
              <a:ln>
                <a:noFill/>
              </a:ln>
              <a:effectLst/>
              <a:latin typeface="Arial" panose="020B0604020202020204" pitchFamily="34" charset="0"/>
            </a:endParaRPr>
          </a:p>
          <a:p>
            <a:pPr algn="just" eaLnBrk="0" hangingPunct="0">
              <a:spcBef>
                <a:spcPct val="0"/>
              </a:spcBef>
            </a:pPr>
            <a:r>
              <a:rPr kumimoji="0" lang="en-IN" altLang="en-US" sz="1400" b="0" i="0" u="none" strike="noStrike" cap="none" normalizeH="0" baseline="0" dirty="0">
                <a:ln>
                  <a:noFill/>
                </a:ln>
                <a:effectLst/>
                <a:latin typeface="Arial" panose="020B0604020202020204" pitchFamily="34" charset="0"/>
              </a:rPr>
              <a:t>Users can download annotated images and the defect log.</a:t>
            </a:r>
          </a:p>
          <a:p>
            <a:pPr algn="just" eaLnBrk="0" hangingPunct="0">
              <a:spcBef>
                <a:spcPct val="0"/>
              </a:spcBef>
            </a:pPr>
            <a:r>
              <a:rPr kumimoji="0" lang="en-IN" altLang="en-US" sz="1400" b="0" i="0" u="none" strike="noStrike" cap="none" normalizeH="0" baseline="0" dirty="0">
                <a:ln>
                  <a:noFill/>
                </a:ln>
                <a:effectLst/>
                <a:latin typeface="Arial" panose="020B0604020202020204" pitchFamily="34" charset="0"/>
              </a:rPr>
              <a:t>Facilitates record-keeping, sharing results, and further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IN"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CB7FC570-66AB-766F-87E2-251A849089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449" y="3789040"/>
            <a:ext cx="3017399" cy="2924022"/>
          </a:xfrm>
          <a:prstGeom prst="rect">
            <a:avLst/>
          </a:prstGeom>
        </p:spPr>
      </p:pic>
      <p:pic>
        <p:nvPicPr>
          <p:cNvPr id="8" name="Picture 7">
            <a:extLst>
              <a:ext uri="{FF2B5EF4-FFF2-40B4-BE49-F238E27FC236}">
                <a16:creationId xmlns:a16="http://schemas.microsoft.com/office/drawing/2014/main" id="{356AA1D2-E258-17CE-E831-33D10A7039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13219" y="3787415"/>
            <a:ext cx="3017399" cy="2924023"/>
          </a:xfrm>
          <a:prstGeom prst="rect">
            <a:avLst/>
          </a:prstGeom>
        </p:spPr>
      </p:pic>
      <p:pic>
        <p:nvPicPr>
          <p:cNvPr id="10" name="Picture 9">
            <a:extLst>
              <a:ext uri="{FF2B5EF4-FFF2-40B4-BE49-F238E27FC236}">
                <a16:creationId xmlns:a16="http://schemas.microsoft.com/office/drawing/2014/main" id="{4D9B029A-8E55-1D5B-B9E9-88C98B4968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39989" y="3787416"/>
            <a:ext cx="2517562" cy="2927674"/>
          </a:xfrm>
          <a:prstGeom prst="rect">
            <a:avLst/>
          </a:prstGeom>
        </p:spPr>
      </p:pic>
    </p:spTree>
    <p:extLst>
      <p:ext uri="{BB962C8B-B14F-4D97-AF65-F5344CB8AC3E}">
        <p14:creationId xmlns:p14="http://schemas.microsoft.com/office/powerpoint/2010/main" val="3226000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4D57-F5F1-C243-817B-13233ABD8047}"/>
              </a:ext>
            </a:extLst>
          </p:cNvPr>
          <p:cNvSpPr>
            <a:spLocks noGrp="1"/>
          </p:cNvSpPr>
          <p:nvPr>
            <p:ph type="title"/>
          </p:nvPr>
        </p:nvSpPr>
        <p:spPr>
          <a:xfrm>
            <a:off x="3245" y="764704"/>
            <a:ext cx="8686800" cy="532730"/>
          </a:xfrm>
        </p:spPr>
        <p:txBody>
          <a:bodyPr/>
          <a:lstStyle/>
          <a:p>
            <a:pPr algn="just"/>
            <a:r>
              <a:rPr lang="en-IN" sz="3200" b="1" dirty="0"/>
              <a:t>5. Advantages &amp; Limitations</a:t>
            </a:r>
          </a:p>
        </p:txBody>
      </p:sp>
      <p:sp>
        <p:nvSpPr>
          <p:cNvPr id="3" name="Content Placeholder 2">
            <a:extLst>
              <a:ext uri="{FF2B5EF4-FFF2-40B4-BE49-F238E27FC236}">
                <a16:creationId xmlns:a16="http://schemas.microsoft.com/office/drawing/2014/main" id="{B6255AD4-946C-42F5-C982-7B071D62E134}"/>
              </a:ext>
            </a:extLst>
          </p:cNvPr>
          <p:cNvSpPr>
            <a:spLocks noGrp="1"/>
          </p:cNvSpPr>
          <p:nvPr>
            <p:ph idx="1"/>
          </p:nvPr>
        </p:nvSpPr>
        <p:spPr>
          <a:xfrm>
            <a:off x="251520" y="1412776"/>
            <a:ext cx="8686800" cy="5184576"/>
          </a:xfrm>
        </p:spPr>
        <p:txBody>
          <a:bodyPr/>
          <a:lstStyle/>
          <a:p>
            <a:pPr marL="0" indent="0">
              <a:buNone/>
            </a:pPr>
            <a:r>
              <a:rPr lang="en-US" sz="1800" b="1" dirty="0"/>
              <a:t>5.1 Advantages</a:t>
            </a:r>
          </a:p>
          <a:p>
            <a:r>
              <a:rPr lang="en-US" sz="1400" dirty="0"/>
              <a:t>High accuracy in detecting and marking PCB defects.</a:t>
            </a:r>
          </a:p>
          <a:p>
            <a:r>
              <a:rPr lang="en-US" sz="1400" dirty="0"/>
              <a:t>Fully automated, end-to-end pipeline from input to output.</a:t>
            </a:r>
          </a:p>
          <a:p>
            <a:r>
              <a:rPr lang="en-US" sz="1400" dirty="0"/>
              <a:t>User-friendly web interface using </a:t>
            </a:r>
            <a:r>
              <a:rPr lang="en-US" sz="1400" dirty="0" err="1"/>
              <a:t>Streamlit</a:t>
            </a:r>
            <a:r>
              <a:rPr lang="en-US" sz="1400" dirty="0"/>
              <a:t> for easy operation.</a:t>
            </a:r>
          </a:p>
          <a:p>
            <a:r>
              <a:rPr lang="en-US" sz="1400" dirty="0"/>
              <a:t>Provides exportable outputs: annotated images and CSV defect logs.</a:t>
            </a:r>
          </a:p>
          <a:p>
            <a:r>
              <a:rPr lang="en-US" sz="1400" dirty="0"/>
              <a:t>Fast processing with modular design for scalability and future upgrades.</a:t>
            </a:r>
          </a:p>
          <a:p>
            <a:r>
              <a:rPr lang="en-US" sz="1400" dirty="0"/>
              <a:t>Supports visualization of aligned defect images, difference maps, and ROIs.</a:t>
            </a:r>
          </a:p>
          <a:p>
            <a:endParaRPr lang="en-US" sz="1400" dirty="0"/>
          </a:p>
          <a:p>
            <a:pPr marL="0" indent="0">
              <a:buNone/>
            </a:pPr>
            <a:r>
              <a:rPr lang="en-US" sz="1800" b="1" dirty="0"/>
              <a:t>5.2 Limitations</a:t>
            </a:r>
          </a:p>
          <a:p>
            <a:r>
              <a:rPr lang="en-US" sz="1400" dirty="0"/>
              <a:t>Performance drops with extreme rotation, skew, or distorted PCBs.</a:t>
            </a:r>
          </a:p>
          <a:p>
            <a:r>
              <a:rPr lang="en-US" sz="1400" dirty="0"/>
              <a:t>Requires clean, high-quality defect-free templates for alignment.</a:t>
            </a:r>
          </a:p>
          <a:p>
            <a:r>
              <a:rPr lang="en-US" sz="1400" dirty="0"/>
              <a:t>Can only detect defect types included in the training dataset.</a:t>
            </a:r>
          </a:p>
          <a:p>
            <a:r>
              <a:rPr lang="en-US" sz="1400" dirty="0"/>
              <a:t>ROI bounding boxes may vary or be imprecise for very complex PCB layouts.</a:t>
            </a:r>
          </a:p>
          <a:p>
            <a:r>
              <a:rPr lang="en-US" sz="1400" dirty="0"/>
              <a:t>Small or subtle defects may be missed if they do not appear clearly in difference maps.</a:t>
            </a:r>
          </a:p>
          <a:p>
            <a:pPr marL="0" indent="0" algn="just">
              <a:buNone/>
            </a:pPr>
            <a:endParaRPr lang="en-IN" sz="1400" dirty="0"/>
          </a:p>
        </p:txBody>
      </p:sp>
    </p:spTree>
    <p:extLst>
      <p:ext uri="{BB962C8B-B14F-4D97-AF65-F5344CB8AC3E}">
        <p14:creationId xmlns:p14="http://schemas.microsoft.com/office/powerpoint/2010/main" val="3571966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1F3D8-BC18-6C67-0438-5E1C3A28DB3C}"/>
              </a:ext>
            </a:extLst>
          </p:cNvPr>
          <p:cNvSpPr>
            <a:spLocks noGrp="1"/>
          </p:cNvSpPr>
          <p:nvPr>
            <p:ph type="title"/>
          </p:nvPr>
        </p:nvSpPr>
        <p:spPr>
          <a:xfrm>
            <a:off x="35091" y="764704"/>
            <a:ext cx="8686800" cy="460722"/>
          </a:xfrm>
        </p:spPr>
        <p:txBody>
          <a:bodyPr/>
          <a:lstStyle/>
          <a:p>
            <a:r>
              <a:rPr lang="en-IN" sz="3200" b="1" dirty="0"/>
              <a:t>6. Conclusion</a:t>
            </a:r>
          </a:p>
        </p:txBody>
      </p:sp>
      <p:sp>
        <p:nvSpPr>
          <p:cNvPr id="5" name="Rectangle 2">
            <a:extLst>
              <a:ext uri="{FF2B5EF4-FFF2-40B4-BE49-F238E27FC236}">
                <a16:creationId xmlns:a16="http://schemas.microsoft.com/office/drawing/2014/main" id="{A49763B8-5FE9-0BFF-4DC7-415C9F440AA0}"/>
              </a:ext>
            </a:extLst>
          </p:cNvPr>
          <p:cNvSpPr>
            <a:spLocks noGrp="1" noChangeArrowheads="1"/>
          </p:cNvSpPr>
          <p:nvPr>
            <p:ph idx="1"/>
          </p:nvPr>
        </p:nvSpPr>
        <p:spPr bwMode="auto">
          <a:xfrm>
            <a:off x="467544" y="1412776"/>
            <a:ext cx="8254347" cy="3539430"/>
          </a:xfrm>
          <a:prstGeom prst="rect">
            <a:avLst/>
          </a:prstGeom>
          <a:noFill/>
          <a:ln>
            <a:noFill/>
          </a:ln>
          <a:effectLst/>
          <a:extLst>
            <a:ext uri="{909E8E84-426E-40DD-AFC4-6F175D3DCCD1}">
              <a14:hiddenFill xmlns:a14="http://schemas.microsoft.com/office/drawing/2010/main">
                <a:gradFill rotWithShape="1">
                  <a:gsLst>
                    <a:gs pos="0">
                      <a:schemeClr val="bg2">
                        <a:gamma/>
                        <a:tint val="26667"/>
                        <a:invGamma/>
                      </a:schemeClr>
                    </a:gs>
                    <a:gs pos="100000">
                      <a:schemeClr val="bg2">
                        <a:alpha val="14999"/>
                      </a:schemeClr>
                    </a:gs>
                  </a:gsLst>
                  <a:lin ang="5400000" scaled="1"/>
                </a:gra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None/>
              <a:tabLst/>
            </a:pPr>
            <a:r>
              <a:rPr kumimoji="0" lang="en-US" altLang="en-US" sz="1600" b="0" i="0" u="none" strike="noStrike" cap="none" normalizeH="0" baseline="0" dirty="0">
                <a:ln>
                  <a:noFill/>
                </a:ln>
                <a:effectLst/>
                <a:latin typeface="Arial" panose="020B0604020202020204" pitchFamily="34" charset="0"/>
              </a:rPr>
              <a:t>A complete PCB defect detection system has been successfully developed by combining accurate template matching, image alignment, and efficient ROI extraction. The pixel-wise image subtraction method effectively highlights defect regions, allowing the system to detect various defect types with high reliability.</a:t>
            </a:r>
          </a:p>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US" altLang="en-US" sz="1600" b="0" i="0" u="none" strike="noStrike" cap="none" normalizeH="0" baseline="0" dirty="0">
              <a:ln>
                <a:noFill/>
              </a:ln>
              <a:effectLst/>
              <a:latin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None/>
              <a:tabLst/>
            </a:pPr>
            <a:r>
              <a:rPr kumimoji="0" lang="en-US" altLang="en-US" sz="1600" b="0" i="0" u="none" strike="noStrike" cap="none" normalizeH="0" baseline="0" dirty="0">
                <a:ln>
                  <a:noFill/>
                </a:ln>
                <a:effectLst/>
                <a:latin typeface="Arial" panose="020B0604020202020204" pitchFamily="34" charset="0"/>
              </a:rPr>
              <a:t>The integration of an </a:t>
            </a:r>
            <a:r>
              <a:rPr kumimoji="0" lang="en-US" altLang="en-US" sz="1600" b="0" i="0" u="none" strike="noStrike" cap="none" normalizeH="0" baseline="0" dirty="0" err="1">
                <a:ln>
                  <a:noFill/>
                </a:ln>
                <a:effectLst/>
                <a:latin typeface="Arial" panose="020B0604020202020204" pitchFamily="34" charset="0"/>
              </a:rPr>
              <a:t>EfficientNet</a:t>
            </a:r>
            <a:r>
              <a:rPr kumimoji="0" lang="en-US" altLang="en-US" sz="1600" b="0" i="0" u="none" strike="noStrike" cap="none" normalizeH="0" baseline="0" dirty="0">
                <a:ln>
                  <a:noFill/>
                </a:ln>
                <a:effectLst/>
                <a:latin typeface="Arial" panose="020B0604020202020204" pitchFamily="34" charset="0"/>
              </a:rPr>
              <a:t> classifier ensures precise recognition of defects, while the </a:t>
            </a:r>
            <a:r>
              <a:rPr kumimoji="0" lang="en-US" altLang="en-US" sz="1600" b="0" i="0" u="none" strike="noStrike" cap="none" normalizeH="0" baseline="0" dirty="0" err="1">
                <a:ln>
                  <a:noFill/>
                </a:ln>
                <a:effectLst/>
                <a:latin typeface="Arial" panose="020B0604020202020204" pitchFamily="34" charset="0"/>
              </a:rPr>
              <a:t>Streamlit</a:t>
            </a:r>
            <a:r>
              <a:rPr kumimoji="0" lang="en-US" altLang="en-US" sz="1600" b="0" i="0" u="none" strike="noStrike" cap="none" normalizeH="0" baseline="0" dirty="0">
                <a:ln>
                  <a:noFill/>
                </a:ln>
                <a:effectLst/>
                <a:latin typeface="Arial" panose="020B0604020202020204" pitchFamily="34" charset="0"/>
              </a:rPr>
              <a:t>-based user interface allows users to visualize annotated images, review defect logs, and download results. This end-to-end pipeline is fully automated, fast, and modular, making it suitable for practical industrial applications.</a:t>
            </a:r>
          </a:p>
          <a:p>
            <a:pPr marL="0" marR="0" lvl="0" indent="0" algn="just" defTabSz="914400" rtl="0" eaLnBrk="1" fontAlgn="base" latinLnBrk="0" hangingPunct="1">
              <a:lnSpc>
                <a:spcPct val="100000"/>
              </a:lnSpc>
              <a:spcBef>
                <a:spcPct val="0"/>
              </a:spcBef>
              <a:spcAft>
                <a:spcPct val="0"/>
              </a:spcAft>
              <a:buClrTx/>
              <a:buSzTx/>
              <a:buFontTx/>
              <a:buChar char="•"/>
              <a:tabLst/>
            </a:pPr>
            <a:endParaRPr kumimoji="0" lang="en-US" altLang="en-US" sz="1600" b="0" i="0" u="none" strike="noStrike" cap="none" normalizeH="0" baseline="0" dirty="0">
              <a:ln>
                <a:noFill/>
              </a:ln>
              <a:effectLst/>
              <a:latin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None/>
              <a:tabLst/>
            </a:pPr>
            <a:r>
              <a:rPr kumimoji="0" lang="en-US" altLang="en-US" sz="1600" b="0" i="0" u="none" strike="noStrike" cap="none" normalizeH="0" baseline="0" dirty="0">
                <a:ln>
                  <a:noFill/>
                </a:ln>
                <a:effectLst/>
                <a:latin typeface="Arial" panose="020B0604020202020204" pitchFamily="34" charset="0"/>
              </a:rPr>
              <a:t>Despite its robustness, the system depends on high-quality template samples and can be sensitive to extreme rotations or distortions. Nevertheless, the design allows future enhancements, such as adding new defect categories or improving alignment techniques, making it flexible and scalable.</a:t>
            </a:r>
            <a:endParaRPr kumimoji="0" lang="en-IN" altLang="en-US" sz="16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71018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D57AF1-75F2-7A38-3309-BBE0678DD756}"/>
              </a:ext>
            </a:extLst>
          </p:cNvPr>
          <p:cNvSpPr txBox="1"/>
          <p:nvPr/>
        </p:nvSpPr>
        <p:spPr>
          <a:xfrm>
            <a:off x="215516" y="2924944"/>
            <a:ext cx="8712968" cy="1569660"/>
          </a:xfrm>
          <a:prstGeom prst="rect">
            <a:avLst/>
          </a:prstGeom>
          <a:noFill/>
        </p:spPr>
        <p:txBody>
          <a:bodyPr wrap="square" rtlCol="0">
            <a:spAutoFit/>
          </a:bodyPr>
          <a:lstStyle/>
          <a:p>
            <a:r>
              <a:rPr lang="en-IN" sz="9600" b="1" dirty="0">
                <a:solidFill>
                  <a:schemeClr val="bg1"/>
                </a:solidFill>
                <a:latin typeface="Monotype Corsiva" panose="03010101010201010101" pitchFamily="66" charset="0"/>
              </a:rPr>
              <a:t>Thank You</a:t>
            </a:r>
          </a:p>
        </p:txBody>
      </p:sp>
    </p:spTree>
    <p:extLst>
      <p:ext uri="{BB962C8B-B14F-4D97-AF65-F5344CB8AC3E}">
        <p14:creationId xmlns:p14="http://schemas.microsoft.com/office/powerpoint/2010/main" val="524264572"/>
      </p:ext>
    </p:extLst>
  </p:cSld>
  <p:clrMapOvr>
    <a:masterClrMapping/>
  </p:clrMapOvr>
</p:sld>
</file>

<file path=ppt/theme/theme1.xml><?xml version="1.0" encoding="utf-8"?>
<a:theme xmlns:a="http://schemas.openxmlformats.org/drawingml/2006/main" name="powerpoint-template-24">
  <a:themeElements>
    <a:clrScheme name="powerpoint-template-24 16">
      <a:dk1>
        <a:srgbClr val="4D4D4D"/>
      </a:dk1>
      <a:lt1>
        <a:srgbClr val="FFFFFF"/>
      </a:lt1>
      <a:dk2>
        <a:srgbClr val="4D4D4D"/>
      </a:dk2>
      <a:lt2>
        <a:srgbClr val="285E80"/>
      </a:lt2>
      <a:accent1>
        <a:srgbClr val="3E7A98"/>
      </a:accent1>
      <a:accent2>
        <a:srgbClr val="5A91AC"/>
      </a:accent2>
      <a:accent3>
        <a:srgbClr val="FFFFFF"/>
      </a:accent3>
      <a:accent4>
        <a:srgbClr val="404040"/>
      </a:accent4>
      <a:accent5>
        <a:srgbClr val="AFBECA"/>
      </a:accent5>
      <a:accent6>
        <a:srgbClr val="51839B"/>
      </a:accent6>
      <a:hlink>
        <a:srgbClr val="6C9FB8"/>
      </a:hlink>
      <a:folHlink>
        <a:srgbClr val="DDDDDD"/>
      </a:folHlink>
    </a:clrScheme>
    <a:fontScheme name="powerpoint-template-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1">
          <a:gsLst>
            <a:gs pos="0">
              <a:schemeClr val="bg2">
                <a:gamma/>
                <a:tint val="26667"/>
                <a:invGamma/>
              </a:schemeClr>
            </a:gs>
            <a:gs pos="100000">
              <a:schemeClr val="bg2">
                <a:alpha val="14999"/>
              </a:schemeClr>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IN"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1">
          <a:gsLst>
            <a:gs pos="0">
              <a:schemeClr val="bg2">
                <a:gamma/>
                <a:tint val="26667"/>
                <a:invGamma/>
              </a:schemeClr>
            </a:gs>
            <a:gs pos="100000">
              <a:schemeClr val="bg2">
                <a:alpha val="14999"/>
              </a:schemeClr>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IN"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owerpoint-template-24 1">
        <a:dk1>
          <a:srgbClr val="4D4D4D"/>
        </a:dk1>
        <a:lt1>
          <a:srgbClr val="FFFFFF"/>
        </a:lt1>
        <a:dk2>
          <a:srgbClr val="4D4D4D"/>
        </a:dk2>
        <a:lt2>
          <a:srgbClr val="0C209B"/>
        </a:lt2>
        <a:accent1>
          <a:srgbClr val="2167BF"/>
        </a:accent1>
        <a:accent2>
          <a:srgbClr val="C60C0D"/>
        </a:accent2>
        <a:accent3>
          <a:srgbClr val="FFFFFF"/>
        </a:accent3>
        <a:accent4>
          <a:srgbClr val="404040"/>
        </a:accent4>
        <a:accent5>
          <a:srgbClr val="ABB8DC"/>
        </a:accent5>
        <a:accent6>
          <a:srgbClr val="B30A0B"/>
        </a:accent6>
        <a:hlink>
          <a:srgbClr val="4793C7"/>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2">
        <a:dk1>
          <a:srgbClr val="4D4D4D"/>
        </a:dk1>
        <a:lt1>
          <a:srgbClr val="FFFFFF"/>
        </a:lt1>
        <a:dk2>
          <a:srgbClr val="4D4D4D"/>
        </a:dk2>
        <a:lt2>
          <a:srgbClr val="CC0000"/>
        </a:lt2>
        <a:accent1>
          <a:srgbClr val="FF9933"/>
        </a:accent1>
        <a:accent2>
          <a:srgbClr val="009900"/>
        </a:accent2>
        <a:accent3>
          <a:srgbClr val="FFFFFF"/>
        </a:accent3>
        <a:accent4>
          <a:srgbClr val="404040"/>
        </a:accent4>
        <a:accent5>
          <a:srgbClr val="FFCAAD"/>
        </a:accent5>
        <a:accent6>
          <a:srgbClr val="008A00"/>
        </a:accent6>
        <a:hlink>
          <a:srgbClr val="3366F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3">
        <a:dk1>
          <a:srgbClr val="4D4D4D"/>
        </a:dk1>
        <a:lt1>
          <a:srgbClr val="FFFFFF"/>
        </a:lt1>
        <a:dk2>
          <a:srgbClr val="4D4D4D"/>
        </a:dk2>
        <a:lt2>
          <a:srgbClr val="116DE4"/>
        </a:lt2>
        <a:accent1>
          <a:srgbClr val="235CAF"/>
        </a:accent1>
        <a:accent2>
          <a:srgbClr val="54A1EE"/>
        </a:accent2>
        <a:accent3>
          <a:srgbClr val="FFFFFF"/>
        </a:accent3>
        <a:accent4>
          <a:srgbClr val="404040"/>
        </a:accent4>
        <a:accent5>
          <a:srgbClr val="ACB5D4"/>
        </a:accent5>
        <a:accent6>
          <a:srgbClr val="4B91D8"/>
        </a:accent6>
        <a:hlink>
          <a:srgbClr val="1391E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4">
        <a:dk1>
          <a:srgbClr val="4D4D4D"/>
        </a:dk1>
        <a:lt1>
          <a:srgbClr val="FFFFFF"/>
        </a:lt1>
        <a:dk2>
          <a:srgbClr val="4D4D4D"/>
        </a:dk2>
        <a:lt2>
          <a:srgbClr val="246DD8"/>
        </a:lt2>
        <a:accent1>
          <a:srgbClr val="2FC5F1"/>
        </a:accent1>
        <a:accent2>
          <a:srgbClr val="218DEB"/>
        </a:accent2>
        <a:accent3>
          <a:srgbClr val="FFFFFF"/>
        </a:accent3>
        <a:accent4>
          <a:srgbClr val="404040"/>
        </a:accent4>
        <a:accent5>
          <a:srgbClr val="ADDFF7"/>
        </a:accent5>
        <a:accent6>
          <a:srgbClr val="1D7FD5"/>
        </a:accent6>
        <a:hlink>
          <a:srgbClr val="39A1EB"/>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5">
        <a:dk1>
          <a:srgbClr val="4D4D4D"/>
        </a:dk1>
        <a:lt1>
          <a:srgbClr val="FFFFFF"/>
        </a:lt1>
        <a:dk2>
          <a:srgbClr val="4D4D4D"/>
        </a:dk2>
        <a:lt2>
          <a:srgbClr val="4377BA"/>
        </a:lt2>
        <a:accent1>
          <a:srgbClr val="5793D1"/>
        </a:accent1>
        <a:accent2>
          <a:srgbClr val="5FA2DB"/>
        </a:accent2>
        <a:accent3>
          <a:srgbClr val="FFFFFF"/>
        </a:accent3>
        <a:accent4>
          <a:srgbClr val="404040"/>
        </a:accent4>
        <a:accent5>
          <a:srgbClr val="B4C8E5"/>
        </a:accent5>
        <a:accent6>
          <a:srgbClr val="5592C6"/>
        </a:accent6>
        <a:hlink>
          <a:srgbClr val="68AEE3"/>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6">
        <a:dk1>
          <a:srgbClr val="4D4D4D"/>
        </a:dk1>
        <a:lt1>
          <a:srgbClr val="FFFFFF"/>
        </a:lt1>
        <a:dk2>
          <a:srgbClr val="4D4D4D"/>
        </a:dk2>
        <a:lt2>
          <a:srgbClr val="0067B5"/>
        </a:lt2>
        <a:accent1>
          <a:srgbClr val="1881BF"/>
        </a:accent1>
        <a:accent2>
          <a:srgbClr val="39B0DA"/>
        </a:accent2>
        <a:accent3>
          <a:srgbClr val="FFFFFF"/>
        </a:accent3>
        <a:accent4>
          <a:srgbClr val="404040"/>
        </a:accent4>
        <a:accent5>
          <a:srgbClr val="ABC1DC"/>
        </a:accent5>
        <a:accent6>
          <a:srgbClr val="339FC5"/>
        </a:accent6>
        <a:hlink>
          <a:srgbClr val="40B0DB"/>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7">
        <a:dk1>
          <a:srgbClr val="4D4D4D"/>
        </a:dk1>
        <a:lt1>
          <a:srgbClr val="FFFFFF"/>
        </a:lt1>
        <a:dk2>
          <a:srgbClr val="4D4D4D"/>
        </a:dk2>
        <a:lt2>
          <a:srgbClr val="026788"/>
        </a:lt2>
        <a:accent1>
          <a:srgbClr val="0089B3"/>
        </a:accent1>
        <a:accent2>
          <a:srgbClr val="01A2CE"/>
        </a:accent2>
        <a:accent3>
          <a:srgbClr val="FFFFFF"/>
        </a:accent3>
        <a:accent4>
          <a:srgbClr val="404040"/>
        </a:accent4>
        <a:accent5>
          <a:srgbClr val="AAC4D6"/>
        </a:accent5>
        <a:accent6>
          <a:srgbClr val="0192BA"/>
        </a:accent6>
        <a:hlink>
          <a:srgbClr val="01B3D8"/>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8">
        <a:dk1>
          <a:srgbClr val="4D4D4D"/>
        </a:dk1>
        <a:lt1>
          <a:srgbClr val="FFFFFF"/>
        </a:lt1>
        <a:dk2>
          <a:srgbClr val="4D4D4D"/>
        </a:dk2>
        <a:lt2>
          <a:srgbClr val="036CB7"/>
        </a:lt2>
        <a:accent1>
          <a:srgbClr val="1878BD"/>
        </a:accent1>
        <a:accent2>
          <a:srgbClr val="3E8EC8"/>
        </a:accent2>
        <a:accent3>
          <a:srgbClr val="FFFFFF"/>
        </a:accent3>
        <a:accent4>
          <a:srgbClr val="404040"/>
        </a:accent4>
        <a:accent5>
          <a:srgbClr val="ABBEDB"/>
        </a:accent5>
        <a:accent6>
          <a:srgbClr val="3780B5"/>
        </a:accent6>
        <a:hlink>
          <a:srgbClr val="559CCE"/>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9">
        <a:dk1>
          <a:srgbClr val="4D4D4D"/>
        </a:dk1>
        <a:lt1>
          <a:srgbClr val="FFFFFF"/>
        </a:lt1>
        <a:dk2>
          <a:srgbClr val="4D4D4D"/>
        </a:dk2>
        <a:lt2>
          <a:srgbClr val="036CB7"/>
        </a:lt2>
        <a:accent1>
          <a:srgbClr val="1878BD"/>
        </a:accent1>
        <a:accent2>
          <a:srgbClr val="3E8EC8"/>
        </a:accent2>
        <a:accent3>
          <a:srgbClr val="FFFFFF"/>
        </a:accent3>
        <a:accent4>
          <a:srgbClr val="404040"/>
        </a:accent4>
        <a:accent5>
          <a:srgbClr val="ABBEDB"/>
        </a:accent5>
        <a:accent6>
          <a:srgbClr val="3780B5"/>
        </a:accent6>
        <a:hlink>
          <a:srgbClr val="006AB6"/>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0">
        <a:dk1>
          <a:srgbClr val="4D4D4D"/>
        </a:dk1>
        <a:lt1>
          <a:srgbClr val="FFFFFF"/>
        </a:lt1>
        <a:dk2>
          <a:srgbClr val="4D4D4D"/>
        </a:dk2>
        <a:lt2>
          <a:srgbClr val="0045A3"/>
        </a:lt2>
        <a:accent1>
          <a:srgbClr val="005AB6"/>
        </a:accent1>
        <a:accent2>
          <a:srgbClr val="0073CF"/>
        </a:accent2>
        <a:accent3>
          <a:srgbClr val="FFFFFF"/>
        </a:accent3>
        <a:accent4>
          <a:srgbClr val="404040"/>
        </a:accent4>
        <a:accent5>
          <a:srgbClr val="AAB5D7"/>
        </a:accent5>
        <a:accent6>
          <a:srgbClr val="0068BB"/>
        </a:accent6>
        <a:hlink>
          <a:srgbClr val="0084D9"/>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1">
        <a:dk1>
          <a:srgbClr val="4D4D4D"/>
        </a:dk1>
        <a:lt1>
          <a:srgbClr val="FFFFFF"/>
        </a:lt1>
        <a:dk2>
          <a:srgbClr val="4D4D4D"/>
        </a:dk2>
        <a:lt2>
          <a:srgbClr val="205EDC"/>
        </a:lt2>
        <a:accent1>
          <a:srgbClr val="3488E9"/>
        </a:accent1>
        <a:accent2>
          <a:srgbClr val="50B3F5"/>
        </a:accent2>
        <a:accent3>
          <a:srgbClr val="FFFFFF"/>
        </a:accent3>
        <a:accent4>
          <a:srgbClr val="404040"/>
        </a:accent4>
        <a:accent5>
          <a:srgbClr val="AEC3F2"/>
        </a:accent5>
        <a:accent6>
          <a:srgbClr val="48A2DE"/>
        </a:accent6>
        <a:hlink>
          <a:srgbClr val="65D4F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2">
        <a:dk1>
          <a:srgbClr val="4D4D4D"/>
        </a:dk1>
        <a:lt1>
          <a:srgbClr val="FFFFFF"/>
        </a:lt1>
        <a:dk2>
          <a:srgbClr val="4D4D4D"/>
        </a:dk2>
        <a:lt2>
          <a:srgbClr val="0045A3"/>
        </a:lt2>
        <a:accent1>
          <a:srgbClr val="005AB6"/>
        </a:accent1>
        <a:accent2>
          <a:srgbClr val="0073CF"/>
        </a:accent2>
        <a:accent3>
          <a:srgbClr val="FFFFFF"/>
        </a:accent3>
        <a:accent4>
          <a:srgbClr val="404040"/>
        </a:accent4>
        <a:accent5>
          <a:srgbClr val="AAB5D7"/>
        </a:accent5>
        <a:accent6>
          <a:srgbClr val="0068BB"/>
        </a:accent6>
        <a:hlink>
          <a:srgbClr val="EE0808"/>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3">
        <a:dk1>
          <a:srgbClr val="4D4D4D"/>
        </a:dk1>
        <a:lt1>
          <a:srgbClr val="FFFFFF"/>
        </a:lt1>
        <a:dk2>
          <a:srgbClr val="4D4D4D"/>
        </a:dk2>
        <a:lt2>
          <a:srgbClr val="0045A3"/>
        </a:lt2>
        <a:accent1>
          <a:srgbClr val="005AB6"/>
        </a:accent1>
        <a:accent2>
          <a:srgbClr val="0073CF"/>
        </a:accent2>
        <a:accent3>
          <a:srgbClr val="FFFFFF"/>
        </a:accent3>
        <a:accent4>
          <a:srgbClr val="404040"/>
        </a:accent4>
        <a:accent5>
          <a:srgbClr val="AAB5D7"/>
        </a:accent5>
        <a:accent6>
          <a:srgbClr val="0068BB"/>
        </a:accent6>
        <a:hlink>
          <a:srgbClr val="F3B21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4">
        <a:dk1>
          <a:srgbClr val="4D4D4D"/>
        </a:dk1>
        <a:lt1>
          <a:srgbClr val="FFFFFF"/>
        </a:lt1>
        <a:dk2>
          <a:srgbClr val="4D4D4D"/>
        </a:dk2>
        <a:lt2>
          <a:srgbClr val="0045A3"/>
        </a:lt2>
        <a:accent1>
          <a:srgbClr val="005AB6"/>
        </a:accent1>
        <a:accent2>
          <a:srgbClr val="0073CF"/>
        </a:accent2>
        <a:accent3>
          <a:srgbClr val="FFFFFF"/>
        </a:accent3>
        <a:accent4>
          <a:srgbClr val="404040"/>
        </a:accent4>
        <a:accent5>
          <a:srgbClr val="AAB5D7"/>
        </a:accent5>
        <a:accent6>
          <a:srgbClr val="0068BB"/>
        </a:accent6>
        <a:hlink>
          <a:srgbClr val="109B09"/>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5">
        <a:dk1>
          <a:srgbClr val="4D4D4D"/>
        </a:dk1>
        <a:lt1>
          <a:srgbClr val="FFFFFF"/>
        </a:lt1>
        <a:dk2>
          <a:srgbClr val="4D4D4D"/>
        </a:dk2>
        <a:lt2>
          <a:srgbClr val="025A9C"/>
        </a:lt2>
        <a:accent1>
          <a:srgbClr val="166FB2"/>
        </a:accent1>
        <a:accent2>
          <a:srgbClr val="3580B9"/>
        </a:accent2>
        <a:accent3>
          <a:srgbClr val="FFFFFF"/>
        </a:accent3>
        <a:accent4>
          <a:srgbClr val="404040"/>
        </a:accent4>
        <a:accent5>
          <a:srgbClr val="ABBBD5"/>
        </a:accent5>
        <a:accent6>
          <a:srgbClr val="2F73A7"/>
        </a:accent6>
        <a:hlink>
          <a:srgbClr val="559CCE"/>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6">
        <a:dk1>
          <a:srgbClr val="4D4D4D"/>
        </a:dk1>
        <a:lt1>
          <a:srgbClr val="FFFFFF"/>
        </a:lt1>
        <a:dk2>
          <a:srgbClr val="4D4D4D"/>
        </a:dk2>
        <a:lt2>
          <a:srgbClr val="285E80"/>
        </a:lt2>
        <a:accent1>
          <a:srgbClr val="3E7A98"/>
        </a:accent1>
        <a:accent2>
          <a:srgbClr val="5A91AC"/>
        </a:accent2>
        <a:accent3>
          <a:srgbClr val="FFFFFF"/>
        </a:accent3>
        <a:accent4>
          <a:srgbClr val="404040"/>
        </a:accent4>
        <a:accent5>
          <a:srgbClr val="AFBECA"/>
        </a:accent5>
        <a:accent6>
          <a:srgbClr val="51839B"/>
        </a:accent6>
        <a:hlink>
          <a:srgbClr val="6C9FB8"/>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powerpoint-template</Template>
  <TotalTime>504</TotalTime>
  <Words>1896</Words>
  <Application>Microsoft Office PowerPoint</Application>
  <PresentationFormat>On-screen Show (4:3)</PresentationFormat>
  <Paragraphs>217</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Microsoft Sans Serif</vt:lpstr>
      <vt:lpstr>Verdana</vt:lpstr>
      <vt:lpstr>굴림</vt:lpstr>
      <vt:lpstr>Times New Roman</vt:lpstr>
      <vt:lpstr>powerpoint-template-24</vt:lpstr>
      <vt:lpstr>Title: CircuitGuard-PCB Defect Detection and Classification Application</vt:lpstr>
      <vt:lpstr>1. ABSTRACT</vt:lpstr>
      <vt:lpstr>2. Introduction</vt:lpstr>
      <vt:lpstr>3. System Workflow</vt:lpstr>
      <vt:lpstr>4. Method and Results</vt:lpstr>
      <vt:lpstr>PowerPoint Presentation</vt:lpstr>
      <vt:lpstr>PowerPoint Presentation</vt:lpstr>
      <vt:lpstr>4.4 Module 4 — Model Evaluation &amp; Inference Testing</vt:lpstr>
      <vt:lpstr>PowerPoint Presentation</vt:lpstr>
      <vt:lpstr>4.6 Module 6 — Backend Pipeline Integration</vt:lpstr>
      <vt:lpstr>PowerPoint Presentation</vt:lpstr>
      <vt:lpstr>5. Advantages &amp; Limitations</vt:lpstr>
      <vt:lpstr>6.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Snehith Reddy Kandur</dc:creator>
  <cp:lastModifiedBy>Snehith Reddy Kandur</cp:lastModifiedBy>
  <cp:revision>2</cp:revision>
  <dcterms:created xsi:type="dcterms:W3CDTF">2025-12-06T06:19:32Z</dcterms:created>
  <dcterms:modified xsi:type="dcterms:W3CDTF">2025-12-06T14:43:45Z</dcterms:modified>
</cp:coreProperties>
</file>